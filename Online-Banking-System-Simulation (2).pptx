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Dela Gothic One"/>
      <p:regular r:id="rId201314"/>
    </p:embeddedFont>
    <p:embeddedFont>
      <p:font typeface="DM Sans"/>
      <p:regular r:id="rId201315"/>
    </p:embeddedFont>
    <p:embeddedFont>
      <p:font typeface="DM Sans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project's purpose and key areas of focus. I'll briefly explain that we're simulating a banking backend to highlight best practices in system design.
I'll emphasize the three main pillars: secure transactions, a scalable architecture, and a maintainable codebase. These are the core problems this project aims to solve and demonstrate a solution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A0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1.png"/><Relationship Id="rId10" Type="http://schemas.openxmlformats.org/officeDocument/2006/relationships/image" Target="../media/image-5-2.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png"/><Relationship Id="rId14" Type="http://schemas.openxmlformats.org/officeDocument/2006/relationships/image" Target="../media/image-5-2.svg"/><Relationship Id="rId15" Type="http://schemas.openxmlformats.org/officeDocument/2006/relationships/image" Target="../media/image-5-7.png"/><Relationship Id="rId16" Type="http://schemas.openxmlformats.org/officeDocument/2006/relationships/image" Target="../media/image-5-8.svg"/><Relationship Id="rId17" Type="http://schemas.openxmlformats.org/officeDocument/2006/relationships/image" Target="../media/image-5-1.png"/><Relationship Id="rId18" Type="http://schemas.openxmlformats.org/officeDocument/2006/relationships/image" Target="../media/image-5-2.svg"/><Relationship Id="rId19" Type="http://schemas.openxmlformats.org/officeDocument/2006/relationships/image" Target="../media/image-5-19.png"/><Relationship Id="rId20" Type="http://schemas.openxmlformats.org/officeDocument/2006/relationships/image" Target="../media/image-5-20.svg"/><Relationship Id="rId21" Type="http://schemas.openxmlformats.org/officeDocument/2006/relationships/image" Target="../media/image-5-21.png"/><Relationship Id="rId22" Type="http://schemas.openxmlformats.org/officeDocument/2006/relationships/image" Target="../media/image-5-22.svg"/><Relationship Id="rId23" Type="http://schemas.openxmlformats.org/officeDocument/2006/relationships/image" Target="../media/image-5-23.png"/><Relationship Id="rId24" Type="http://schemas.openxmlformats.org/officeDocument/2006/relationships/image" Target="../media/image-5-24.svg"/><Relationship Id="rId25" Type="http://schemas.openxmlformats.org/officeDocument/2006/relationships/slideLayout" Target="../slideLayouts/slideLayout2.xml"/><Relationship Id="rId2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31908" y="2604790"/>
            <a:ext cx="10927878" cy="519609"/>
          </a:xfrm>
          <a:prstGeom prst="rect">
            <a:avLst/>
          </a:prstGeom>
          <a:noFill/>
          <a:ln/>
        </p:spPr>
        <p:txBody>
          <a:bodyPr wrap="none" lIns="0" tIns="0" rIns="0" bIns="0" rtlCol="0" anchor="t"/>
          <a:lstStyle/>
          <a:p>
            <a:pPr algn="ctr" indent="0" marL="0">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Online Banking System Simulation</a:t>
            </a:r>
            <a:endParaRPr lang="en-US" sz="3250" dirty="0"/>
          </a:p>
        </p:txBody>
      </p:sp>
      <p:sp>
        <p:nvSpPr>
          <p:cNvPr id="3" name="Shape 1"/>
          <p:cNvSpPr/>
          <p:nvPr/>
        </p:nvSpPr>
        <p:spPr>
          <a:xfrm>
            <a:off x="631908" y="3479800"/>
            <a:ext cx="10927878" cy="19050"/>
          </a:xfrm>
          <a:prstGeom prst="roundRect">
            <a:avLst>
              <a:gd name="adj" fmla="val 49999"/>
            </a:avLst>
          </a:prstGeom>
          <a:solidFill>
            <a:srgbClr val="FFE5E5">
              <a:alpha val="50000"/>
            </a:srgbClr>
          </a:solidFill>
          <a:ln/>
        </p:spPr>
      </p:sp>
      <p:sp>
        <p:nvSpPr>
          <p:cNvPr id="4" name="Text 2"/>
          <p:cNvSpPr/>
          <p:nvPr/>
        </p:nvSpPr>
        <p:spPr>
          <a:xfrm>
            <a:off x="327116" y="3858220"/>
            <a:ext cx="5880846" cy="252710"/>
          </a:xfrm>
          <a:prstGeom prst="rect">
            <a:avLst/>
          </a:prstGeom>
          <a:noFill/>
          <a:ln/>
        </p:spPr>
        <p:txBody>
          <a:bodyPr wrap="none" lIns="0" tIns="0" rIns="0" bIns="0" rtlCol="0" anchor="t"/>
          <a:lstStyle/>
          <a:p>
            <a:pPr algn="ctr" indent="0" marL="0">
              <a:lnSpc>
                <a:spcPct val="133000"/>
              </a:lnSpc>
              <a:buNone/>
            </a:pPr>
            <a:r>
              <a:rPr lang="en-US" sz="1200" b="1" dirty="0">
                <a:solidFill>
                  <a:srgbClr val="FFE5E5"/>
                </a:solidFill>
                <a:latin typeface="DM Sans Bold" pitchFamily="34" charset="0"/>
                <a:ea typeface="DM Sans Bold" pitchFamily="34" charset="-122"/>
                <a:cs typeface="DM Sans Bold" pitchFamily="34" charset="-120"/>
              </a:rPr>
              <a:t>Jakka Bhanu</a:t>
            </a:r>
            <a:pPr algn="ctr" indent="0" marL="0">
              <a:lnSpc>
                <a:spcPct val="133000"/>
              </a:lnSpc>
              <a:buNone/>
            </a:pPr>
            <a:r>
              <a:rPr lang="en-US" sz="1200" dirty="0">
                <a:solidFill>
                  <a:srgbClr val="FFE5E5"/>
                </a:solidFill>
                <a:latin typeface="DM Sans" pitchFamily="34" charset="0"/>
                <a:ea typeface="DM Sans" pitchFamily="34" charset="-122"/>
                <a:cs typeface="DM Sans" pitchFamily="34" charset="-120"/>
              </a:rPr>
              <a:t> — 2520030006</a:t>
            </a:r>
            <a:endParaRPr lang="en-US" sz="1200" dirty="0"/>
          </a:p>
        </p:txBody>
      </p:sp>
      <p:sp>
        <p:nvSpPr>
          <p:cNvPr id="5" name="Text 3"/>
          <p:cNvSpPr/>
          <p:nvPr/>
        </p:nvSpPr>
        <p:spPr>
          <a:xfrm>
            <a:off x="5990083" y="3858220"/>
            <a:ext cx="5880846" cy="252710"/>
          </a:xfrm>
          <a:prstGeom prst="rect">
            <a:avLst/>
          </a:prstGeom>
          <a:noFill/>
          <a:ln/>
        </p:spPr>
        <p:txBody>
          <a:bodyPr wrap="none" lIns="0" tIns="0" rIns="0" bIns="0" rtlCol="0" anchor="t"/>
          <a:lstStyle/>
          <a:p>
            <a:pPr algn="ctr" indent="0" marL="0">
              <a:lnSpc>
                <a:spcPct val="133000"/>
              </a:lnSpc>
              <a:buNone/>
            </a:pPr>
            <a:r>
              <a:rPr lang="en-US" sz="1200" b="1" dirty="0">
                <a:solidFill>
                  <a:srgbClr val="FFE5E5"/>
                </a:solidFill>
                <a:latin typeface="DM Sans Bold" pitchFamily="34" charset="0"/>
                <a:ea typeface="DM Sans Bold" pitchFamily="34" charset="-122"/>
                <a:cs typeface="DM Sans Bold" pitchFamily="34" charset="-120"/>
              </a:rPr>
              <a:t>Anand Akshita</a:t>
            </a:r>
            <a:pPr algn="ctr" indent="0" marL="0">
              <a:lnSpc>
                <a:spcPct val="133000"/>
              </a:lnSpc>
              <a:buNone/>
            </a:pPr>
            <a:r>
              <a:rPr lang="en-US" sz="1200" dirty="0">
                <a:solidFill>
                  <a:srgbClr val="FFE5E5"/>
                </a:solidFill>
                <a:latin typeface="DM Sans" pitchFamily="34" charset="0"/>
                <a:ea typeface="DM Sans" pitchFamily="34" charset="-122"/>
                <a:cs typeface="DM Sans" pitchFamily="34" charset="-120"/>
              </a:rPr>
              <a:t> — 2520030043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31908" y="1844278"/>
            <a:ext cx="818832" cy="240010"/>
          </a:xfrm>
          <a:prstGeom prst="roundRect">
            <a:avLst>
              <a:gd name="adj" fmla="val 22116"/>
            </a:avLst>
          </a:prstGeom>
          <a:solidFill>
            <a:srgbClr val="460707"/>
          </a:solidFill>
          <a:ln/>
        </p:spPr>
      </p:sp>
      <p:sp>
        <p:nvSpPr>
          <p:cNvPr id="3" name="Text 1"/>
          <p:cNvSpPr/>
          <p:nvPr/>
        </p:nvSpPr>
        <p:spPr>
          <a:xfrm>
            <a:off x="726660" y="1891605"/>
            <a:ext cx="1238914" cy="145355"/>
          </a:xfrm>
          <a:prstGeom prst="rect">
            <a:avLst/>
          </a:prstGeom>
          <a:noFill/>
          <a:ln/>
        </p:spPr>
        <p:txBody>
          <a:bodyPr wrap="none" lIns="0" tIns="0" rIns="0" bIns="0" rtlCol="0" anchor="t"/>
          <a:lstStyle/>
          <a:p>
            <a:pPr algn="l" indent="0" marL="0">
              <a:lnSpc>
                <a:spcPct val="96000"/>
              </a:lnSpc>
              <a:buNone/>
            </a:pPr>
            <a:r>
              <a:rPr lang="en-US" sz="950" dirty="0">
                <a:solidFill>
                  <a:srgbClr val="FFE5E5"/>
                </a:solidFill>
                <a:latin typeface="DM Sans" pitchFamily="34" charset="0"/>
                <a:ea typeface="DM Sans" pitchFamily="34" charset="-122"/>
                <a:cs typeface="DM Sans" pitchFamily="34" charset="-120"/>
              </a:rPr>
              <a:t>OVERVIEW</a:t>
            </a:r>
            <a:endParaRPr lang="en-US" sz="950" dirty="0"/>
          </a:p>
        </p:txBody>
      </p:sp>
      <p:sp>
        <p:nvSpPr>
          <p:cNvPr id="4" name="Text 2"/>
          <p:cNvSpPr/>
          <p:nvPr/>
        </p:nvSpPr>
        <p:spPr>
          <a:xfrm>
            <a:off x="631908" y="2147391"/>
            <a:ext cx="10927878" cy="519609"/>
          </a:xfrm>
          <a:prstGeom prst="rect">
            <a:avLst/>
          </a:prstGeom>
          <a:noFill/>
          <a:ln/>
        </p:spPr>
        <p:txBody>
          <a:bodyPr wrap="none" lIns="0" tIns="0" rIns="0" bIns="0" rtlCol="0" anchor="t"/>
          <a:lstStyle/>
          <a:p>
            <a:pPr algn="l" indent="0" marL="0">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Project Abstract</a:t>
            </a:r>
            <a:endParaRPr lang="en-US" sz="3250" dirty="0"/>
          </a:p>
        </p:txBody>
      </p:sp>
      <p:sp>
        <p:nvSpPr>
          <p:cNvPr id="5" name="Text 3"/>
          <p:cNvSpPr/>
          <p:nvPr/>
        </p:nvSpPr>
        <p:spPr>
          <a:xfrm>
            <a:off x="631908" y="2903934"/>
            <a:ext cx="10927878"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This project simulates a robust online banking backend, developed with a core focus on addressing critical vulnerabilities found in traditional systems while ensuring secure, scalable, and maintainable operations.</a:t>
            </a:r>
            <a:endParaRPr lang="en-US" sz="1200" dirty="0"/>
          </a:p>
        </p:txBody>
      </p:sp>
      <p:sp>
        <p:nvSpPr>
          <p:cNvPr id="6" name="Shape 4"/>
          <p:cNvSpPr/>
          <p:nvPr/>
        </p:nvSpPr>
        <p:spPr>
          <a:xfrm>
            <a:off x="631908" y="3587055"/>
            <a:ext cx="355393" cy="355402"/>
          </a:xfrm>
          <a:prstGeom prst="roundRect">
            <a:avLst>
              <a:gd name="adj" fmla="val 18670"/>
            </a:avLst>
          </a:prstGeom>
          <a:solidFill>
            <a:srgbClr val="740B0B"/>
          </a:solidFill>
          <a:ln w="6350">
            <a:solidFill>
              <a:srgbClr val="8D2424"/>
            </a:solidFill>
            <a:prstDash val="solid"/>
          </a:ln>
        </p:spPr>
      </p:sp>
      <p:sp>
        <p:nvSpPr>
          <p:cNvPr id="7" name="Text 5"/>
          <p:cNvSpPr/>
          <p:nvPr/>
        </p:nvSpPr>
        <p:spPr>
          <a:xfrm>
            <a:off x="1145253" y="3641328"/>
            <a:ext cx="2997621" cy="519509"/>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Secure Transaction Processing</a:t>
            </a:r>
            <a:endParaRPr lang="en-US" sz="1600" dirty="0"/>
          </a:p>
        </p:txBody>
      </p:sp>
      <p:sp>
        <p:nvSpPr>
          <p:cNvPr id="8" name="Text 6"/>
          <p:cNvSpPr/>
          <p:nvPr/>
        </p:nvSpPr>
        <p:spPr>
          <a:xfrm>
            <a:off x="1145253" y="4255591"/>
            <a:ext cx="2997621" cy="75813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Implementing advanced mechanisms to protect financial data and ensure integrity across all operations.</a:t>
            </a:r>
            <a:endParaRPr lang="en-US" sz="1200" dirty="0"/>
          </a:p>
        </p:txBody>
      </p:sp>
      <p:sp>
        <p:nvSpPr>
          <p:cNvPr id="9" name="Shape 7"/>
          <p:cNvSpPr/>
          <p:nvPr/>
        </p:nvSpPr>
        <p:spPr>
          <a:xfrm>
            <a:off x="4340315" y="3587055"/>
            <a:ext cx="355393" cy="355402"/>
          </a:xfrm>
          <a:prstGeom prst="roundRect">
            <a:avLst>
              <a:gd name="adj" fmla="val 18670"/>
            </a:avLst>
          </a:prstGeom>
          <a:solidFill>
            <a:srgbClr val="740B0B"/>
          </a:solidFill>
          <a:ln w="6350">
            <a:solidFill>
              <a:srgbClr val="8D2424"/>
            </a:solidFill>
            <a:prstDash val="solid"/>
          </a:ln>
        </p:spPr>
      </p:sp>
      <p:sp>
        <p:nvSpPr>
          <p:cNvPr id="10" name="Text 8"/>
          <p:cNvSpPr/>
          <p:nvPr/>
        </p:nvSpPr>
        <p:spPr>
          <a:xfrm>
            <a:off x="4853660" y="3641328"/>
            <a:ext cx="2997621" cy="519509"/>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Scalable System Architecture</a:t>
            </a:r>
            <a:endParaRPr lang="en-US" sz="1600" dirty="0"/>
          </a:p>
        </p:txBody>
      </p:sp>
      <p:sp>
        <p:nvSpPr>
          <p:cNvPr id="11" name="Text 9"/>
          <p:cNvSpPr/>
          <p:nvPr/>
        </p:nvSpPr>
        <p:spPr>
          <a:xfrm>
            <a:off x="4853660" y="4255591"/>
            <a:ext cx="2997621" cy="75813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Designed to handle high user loads and complex banking demands efficiently as the system grows.</a:t>
            </a:r>
            <a:endParaRPr lang="en-US" sz="1200" dirty="0"/>
          </a:p>
        </p:txBody>
      </p:sp>
      <p:sp>
        <p:nvSpPr>
          <p:cNvPr id="12" name="Shape 10"/>
          <p:cNvSpPr/>
          <p:nvPr/>
        </p:nvSpPr>
        <p:spPr>
          <a:xfrm>
            <a:off x="8048721" y="3587055"/>
            <a:ext cx="355393" cy="355402"/>
          </a:xfrm>
          <a:prstGeom prst="roundRect">
            <a:avLst>
              <a:gd name="adj" fmla="val 18670"/>
            </a:avLst>
          </a:prstGeom>
          <a:solidFill>
            <a:srgbClr val="740B0B"/>
          </a:solidFill>
          <a:ln w="6350">
            <a:solidFill>
              <a:srgbClr val="8D2424"/>
            </a:solidFill>
            <a:prstDash val="solid"/>
          </a:ln>
        </p:spPr>
      </p:sp>
      <p:sp>
        <p:nvSpPr>
          <p:cNvPr id="13" name="Text 11"/>
          <p:cNvSpPr/>
          <p:nvPr/>
        </p:nvSpPr>
        <p:spPr>
          <a:xfrm>
            <a:off x="8562066" y="3641328"/>
            <a:ext cx="2997720" cy="519509"/>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Modular &amp; Maintainable Codebase</a:t>
            </a:r>
            <a:endParaRPr lang="en-US" sz="1600" dirty="0"/>
          </a:p>
        </p:txBody>
      </p:sp>
      <p:sp>
        <p:nvSpPr>
          <p:cNvPr id="14" name="Text 12"/>
          <p:cNvSpPr/>
          <p:nvPr/>
        </p:nvSpPr>
        <p:spPr>
          <a:xfrm>
            <a:off x="8562066" y="4255591"/>
            <a:ext cx="2997720" cy="75813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A clearly structured application that simplifies future development, testing, and long-term support.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31908" y="1391047"/>
            <a:ext cx="1169264" cy="240010"/>
          </a:xfrm>
          <a:prstGeom prst="roundRect">
            <a:avLst>
              <a:gd name="adj" fmla="val 22116"/>
            </a:avLst>
          </a:prstGeom>
          <a:solidFill>
            <a:srgbClr val="460707"/>
          </a:solidFill>
          <a:ln/>
        </p:spPr>
      </p:sp>
      <p:sp>
        <p:nvSpPr>
          <p:cNvPr id="3" name="Text 1"/>
          <p:cNvSpPr/>
          <p:nvPr/>
        </p:nvSpPr>
        <p:spPr>
          <a:xfrm>
            <a:off x="726660" y="1438374"/>
            <a:ext cx="1589345" cy="145355"/>
          </a:xfrm>
          <a:prstGeom prst="rect">
            <a:avLst/>
          </a:prstGeom>
          <a:noFill/>
          <a:ln/>
        </p:spPr>
        <p:txBody>
          <a:bodyPr wrap="none" lIns="0" tIns="0" rIns="0" bIns="0" rtlCol="0" anchor="t"/>
          <a:lstStyle/>
          <a:p>
            <a:pPr algn="l" indent="0" marL="0">
              <a:lnSpc>
                <a:spcPct val="96000"/>
              </a:lnSpc>
              <a:buNone/>
            </a:pPr>
            <a:r>
              <a:rPr lang="en-US" sz="950" dirty="0">
                <a:solidFill>
                  <a:srgbClr val="FFE5E5"/>
                </a:solidFill>
                <a:latin typeface="DM Sans" pitchFamily="34" charset="0"/>
                <a:ea typeface="DM Sans" pitchFamily="34" charset="-122"/>
                <a:cs typeface="DM Sans" pitchFamily="34" charset="-120"/>
              </a:rPr>
              <a:t>PROJECT SCOPE</a:t>
            </a:r>
            <a:endParaRPr lang="en-US" sz="950" dirty="0"/>
          </a:p>
        </p:txBody>
      </p:sp>
      <p:sp>
        <p:nvSpPr>
          <p:cNvPr id="4" name="Text 2"/>
          <p:cNvSpPr/>
          <p:nvPr/>
        </p:nvSpPr>
        <p:spPr>
          <a:xfrm>
            <a:off x="631908" y="1694160"/>
            <a:ext cx="10927878" cy="519609"/>
          </a:xfrm>
          <a:prstGeom prst="rect">
            <a:avLst/>
          </a:prstGeom>
          <a:noFill/>
          <a:ln/>
        </p:spPr>
        <p:txBody>
          <a:bodyPr wrap="none" lIns="0" tIns="0" rIns="0" bIns="0" rtlCol="0" anchor="t"/>
          <a:lstStyle/>
          <a:p>
            <a:pPr algn="l" indent="0" marL="0">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What This Project Delivers</a:t>
            </a:r>
            <a:endParaRPr lang="en-US" sz="3250" dirty="0"/>
          </a:p>
        </p:txBody>
      </p:sp>
      <p:sp>
        <p:nvSpPr>
          <p:cNvPr id="5" name="Text 3"/>
          <p:cNvSpPr/>
          <p:nvPr/>
        </p:nvSpPr>
        <p:spPr>
          <a:xfrm>
            <a:off x="631908" y="2450703"/>
            <a:ext cx="11537463" cy="252710"/>
          </a:xfrm>
          <a:prstGeom prst="rect">
            <a:avLst/>
          </a:prstGeom>
          <a:noFill/>
          <a:ln/>
        </p:spPr>
        <p:txBody>
          <a:bodyPr wrap="none" lIns="0" tIns="0" rIns="0" bIns="0" rtlCol="0" anchor="t"/>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A banking backend that handles everyday operations, keeps the code organized, protects transactions, and supports many users at once.</a:t>
            </a:r>
            <a:endParaRPr lang="en-US" sz="12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908" y="2881114"/>
            <a:ext cx="5384963" cy="1213941"/>
          </a:xfrm>
          <a:prstGeom prst="rect">
            <a:avLst/>
          </a:prstGeom>
        </p:spPr>
      </p:pic>
      <p:sp>
        <p:nvSpPr>
          <p:cNvPr id="7" name="Text 4"/>
          <p:cNvSpPr/>
          <p:nvPr/>
        </p:nvSpPr>
        <p:spPr>
          <a:xfrm>
            <a:off x="885108" y="3058120"/>
            <a:ext cx="4954761"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Banking Operations</a:t>
            </a:r>
            <a:endParaRPr lang="en-US" sz="1600" dirty="0"/>
          </a:p>
        </p:txBody>
      </p:sp>
      <p:sp>
        <p:nvSpPr>
          <p:cNvPr id="8" name="Text 5"/>
          <p:cNvSpPr/>
          <p:nvPr/>
        </p:nvSpPr>
        <p:spPr>
          <a:xfrm>
            <a:off x="885108" y="3412629"/>
            <a:ext cx="4954761"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Users can manage accounts, make deposits and withdrawals, send money, and view transaction history.</a:t>
            </a:r>
            <a:endParaRPr lang="en-US" sz="12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4824" y="2881114"/>
            <a:ext cx="5384963" cy="1213941"/>
          </a:xfrm>
          <a:prstGeom prst="rect">
            <a:avLst/>
          </a:prstGeom>
        </p:spPr>
      </p:pic>
      <p:sp>
        <p:nvSpPr>
          <p:cNvPr id="10" name="Text 6"/>
          <p:cNvSpPr/>
          <p:nvPr/>
        </p:nvSpPr>
        <p:spPr>
          <a:xfrm>
            <a:off x="6428024" y="3058120"/>
            <a:ext cx="4954761"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Clean Structure</a:t>
            </a:r>
            <a:endParaRPr lang="en-US" sz="1600" dirty="0"/>
          </a:p>
        </p:txBody>
      </p:sp>
      <p:sp>
        <p:nvSpPr>
          <p:cNvPr id="11" name="Text 7"/>
          <p:cNvSpPr/>
          <p:nvPr/>
        </p:nvSpPr>
        <p:spPr>
          <a:xfrm>
            <a:off x="6428024" y="3412629"/>
            <a:ext cx="4954761"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The app is split into clear layers, so each part has one job and is easier to build and maintain.</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 y="4253012"/>
            <a:ext cx="5384963" cy="1213941"/>
          </a:xfrm>
          <a:prstGeom prst="rect">
            <a:avLst/>
          </a:prstGeom>
        </p:spPr>
      </p:pic>
      <p:sp>
        <p:nvSpPr>
          <p:cNvPr id="13" name="Text 8"/>
          <p:cNvSpPr/>
          <p:nvPr/>
        </p:nvSpPr>
        <p:spPr>
          <a:xfrm>
            <a:off x="885108" y="4430018"/>
            <a:ext cx="4954761"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Safe Transactions</a:t>
            </a:r>
            <a:endParaRPr lang="en-US" sz="1600" dirty="0"/>
          </a:p>
        </p:txBody>
      </p:sp>
      <p:sp>
        <p:nvSpPr>
          <p:cNvPr id="14" name="Text 9"/>
          <p:cNvSpPr/>
          <p:nvPr/>
        </p:nvSpPr>
        <p:spPr>
          <a:xfrm>
            <a:off x="885108" y="4784527"/>
            <a:ext cx="4954761"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Money updates are handled carefully so balances stay correct, even when multiple actions happen at the same time.</a:t>
            </a:r>
            <a:endParaRPr lang="en-US" sz="12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4824" y="4253012"/>
            <a:ext cx="5384963" cy="1213941"/>
          </a:xfrm>
          <a:prstGeom prst="rect">
            <a:avLst/>
          </a:prstGeom>
        </p:spPr>
      </p:pic>
      <p:sp>
        <p:nvSpPr>
          <p:cNvPr id="16" name="Text 10"/>
          <p:cNvSpPr/>
          <p:nvPr/>
        </p:nvSpPr>
        <p:spPr>
          <a:xfrm>
            <a:off x="6428024" y="4430018"/>
            <a:ext cx="4954761"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Built for Scale</a:t>
            </a:r>
            <a:endParaRPr lang="en-US" sz="1600" dirty="0"/>
          </a:p>
        </p:txBody>
      </p:sp>
      <p:sp>
        <p:nvSpPr>
          <p:cNvPr id="17" name="Text 11"/>
          <p:cNvSpPr/>
          <p:nvPr/>
        </p:nvSpPr>
        <p:spPr>
          <a:xfrm>
            <a:off x="6428024" y="4784527"/>
            <a:ext cx="4954761"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The system is designed to keep working smoothly as more users and requests are added.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31908" y="531912"/>
            <a:ext cx="1473262" cy="240010"/>
          </a:xfrm>
          <a:prstGeom prst="roundRect">
            <a:avLst>
              <a:gd name="adj" fmla="val 22116"/>
            </a:avLst>
          </a:prstGeom>
          <a:solidFill>
            <a:srgbClr val="460707"/>
          </a:solidFill>
          <a:ln/>
        </p:spPr>
      </p:sp>
      <p:sp>
        <p:nvSpPr>
          <p:cNvPr id="3" name="Text 1"/>
          <p:cNvSpPr/>
          <p:nvPr/>
        </p:nvSpPr>
        <p:spPr>
          <a:xfrm>
            <a:off x="726660" y="579239"/>
            <a:ext cx="1893344" cy="145355"/>
          </a:xfrm>
          <a:prstGeom prst="rect">
            <a:avLst/>
          </a:prstGeom>
          <a:noFill/>
          <a:ln/>
        </p:spPr>
        <p:txBody>
          <a:bodyPr wrap="none" lIns="0" tIns="0" rIns="0" bIns="0" rtlCol="0" anchor="t"/>
          <a:lstStyle/>
          <a:p>
            <a:pPr algn="l" indent="0" marL="0">
              <a:lnSpc>
                <a:spcPct val="96000"/>
              </a:lnSpc>
              <a:buNone/>
            </a:pPr>
            <a:r>
              <a:rPr lang="en-US" sz="950" dirty="0">
                <a:solidFill>
                  <a:srgbClr val="FFE5E5"/>
                </a:solidFill>
                <a:latin typeface="DM Sans" pitchFamily="34" charset="0"/>
                <a:ea typeface="DM Sans" pitchFamily="34" charset="-122"/>
                <a:cs typeface="DM Sans" pitchFamily="34" charset="-120"/>
              </a:rPr>
              <a:t>PROBLEM STATEMENT</a:t>
            </a:r>
            <a:endParaRPr lang="en-US" sz="950" dirty="0"/>
          </a:p>
        </p:txBody>
      </p:sp>
      <p:sp>
        <p:nvSpPr>
          <p:cNvPr id="4" name="Text 2"/>
          <p:cNvSpPr/>
          <p:nvPr/>
        </p:nvSpPr>
        <p:spPr>
          <a:xfrm>
            <a:off x="631908" y="835025"/>
            <a:ext cx="10927878" cy="519609"/>
          </a:xfrm>
          <a:prstGeom prst="rect">
            <a:avLst/>
          </a:prstGeom>
          <a:noFill/>
          <a:ln/>
        </p:spPr>
        <p:txBody>
          <a:bodyPr wrap="none" lIns="0" tIns="0" rIns="0" bIns="0" rtlCol="0" anchor="t"/>
          <a:lstStyle/>
          <a:p>
            <a:pPr algn="l" indent="0" marL="0">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The Problem: Why Banking Backends Fail</a:t>
            </a:r>
            <a:endParaRPr lang="en-US" sz="3250" dirty="0"/>
          </a:p>
        </p:txBody>
      </p:sp>
      <p:sp>
        <p:nvSpPr>
          <p:cNvPr id="5" name="Text 3"/>
          <p:cNvSpPr/>
          <p:nvPr/>
        </p:nvSpPr>
        <p:spPr>
          <a:xfrm>
            <a:off x="631908" y="1591568"/>
            <a:ext cx="10927878"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Banking systems need to keep information correct, handle many people at once, and stay fast. Simple systems often struggle with these three things and break when the pressure grows.</a:t>
            </a:r>
            <a:endParaRPr lang="en-US" sz="1200" dirty="0"/>
          </a:p>
        </p:txBody>
      </p:sp>
      <p:sp>
        <p:nvSpPr>
          <p:cNvPr id="6" name="Shape 4"/>
          <p:cNvSpPr/>
          <p:nvPr/>
        </p:nvSpPr>
        <p:spPr>
          <a:xfrm>
            <a:off x="631908" y="2274689"/>
            <a:ext cx="5384963" cy="2073077"/>
          </a:xfrm>
          <a:prstGeom prst="roundRect">
            <a:avLst>
              <a:gd name="adj" fmla="val 3201"/>
            </a:avLst>
          </a:prstGeom>
          <a:solidFill>
            <a:srgbClr val="740B0B"/>
          </a:solidFill>
          <a:ln w="6350">
            <a:solidFill>
              <a:srgbClr val="8D2424"/>
            </a:solidFill>
            <a:prstDash val="solid"/>
          </a:ln>
        </p:spPr>
      </p:sp>
      <p:sp>
        <p:nvSpPr>
          <p:cNvPr id="7" name="Shape 5"/>
          <p:cNvSpPr/>
          <p:nvPr/>
        </p:nvSpPr>
        <p:spPr>
          <a:xfrm>
            <a:off x="796211" y="2438995"/>
            <a:ext cx="473857" cy="473869"/>
          </a:xfrm>
          <a:prstGeom prst="ellipse">
            <a:avLst/>
          </a:prstGeom>
          <a:solidFill>
            <a:srgbClr val="C91313"/>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6482" y="2569270"/>
            <a:ext cx="213216" cy="213221"/>
          </a:xfrm>
          <a:prstGeom prst="rect">
            <a:avLst/>
          </a:prstGeom>
        </p:spPr>
      </p:pic>
      <p:sp>
        <p:nvSpPr>
          <p:cNvPr id="9" name="Text 6"/>
          <p:cNvSpPr/>
          <p:nvPr/>
        </p:nvSpPr>
        <p:spPr>
          <a:xfrm>
            <a:off x="796211" y="3070820"/>
            <a:ext cx="5056359"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Data Gets Messed Up</a:t>
            </a:r>
            <a:endParaRPr lang="en-US" sz="1600" dirty="0"/>
          </a:p>
        </p:txBody>
      </p:sp>
      <p:sp>
        <p:nvSpPr>
          <p:cNvPr id="10" name="Text 7"/>
          <p:cNvSpPr/>
          <p:nvPr/>
        </p:nvSpPr>
        <p:spPr>
          <a:xfrm>
            <a:off x="796211" y="3425329"/>
            <a:ext cx="5056359" cy="75813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When the same customer or account information is stored in too many places, it is easy for records to get out of sync. For example, one screen may show the wrong balance after an update.</a:t>
            </a:r>
            <a:endParaRPr lang="en-US" sz="1200" dirty="0"/>
          </a:p>
        </p:txBody>
      </p:sp>
      <p:sp>
        <p:nvSpPr>
          <p:cNvPr id="11" name="Shape 8"/>
          <p:cNvSpPr/>
          <p:nvPr/>
        </p:nvSpPr>
        <p:spPr>
          <a:xfrm>
            <a:off x="6174824" y="2274689"/>
            <a:ext cx="5384963" cy="2073077"/>
          </a:xfrm>
          <a:prstGeom prst="roundRect">
            <a:avLst>
              <a:gd name="adj" fmla="val 3201"/>
            </a:avLst>
          </a:prstGeom>
          <a:solidFill>
            <a:srgbClr val="740B0B"/>
          </a:solidFill>
          <a:ln w="6350">
            <a:solidFill>
              <a:srgbClr val="8D2424"/>
            </a:solidFill>
            <a:prstDash val="solid"/>
          </a:ln>
        </p:spPr>
      </p:sp>
      <p:sp>
        <p:nvSpPr>
          <p:cNvPr id="12" name="Shape 9"/>
          <p:cNvSpPr/>
          <p:nvPr/>
        </p:nvSpPr>
        <p:spPr>
          <a:xfrm>
            <a:off x="6339126" y="2438995"/>
            <a:ext cx="473857" cy="473869"/>
          </a:xfrm>
          <a:prstGeom prst="ellipse">
            <a:avLst/>
          </a:prstGeom>
          <a:solidFill>
            <a:srgbClr val="C91313"/>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69397" y="2569270"/>
            <a:ext cx="213216" cy="213221"/>
          </a:xfrm>
          <a:prstGeom prst="rect">
            <a:avLst/>
          </a:prstGeom>
        </p:spPr>
      </p:pic>
      <p:sp>
        <p:nvSpPr>
          <p:cNvPr id="14" name="Text 10"/>
          <p:cNvSpPr/>
          <p:nvPr/>
        </p:nvSpPr>
        <p:spPr>
          <a:xfrm>
            <a:off x="6339126" y="3070820"/>
            <a:ext cx="5056359"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Multiple Users Cause Crashes</a:t>
            </a:r>
            <a:endParaRPr lang="en-US" sz="1600" dirty="0"/>
          </a:p>
        </p:txBody>
      </p:sp>
      <p:sp>
        <p:nvSpPr>
          <p:cNvPr id="15" name="Text 11"/>
          <p:cNvSpPr/>
          <p:nvPr/>
        </p:nvSpPr>
        <p:spPr>
          <a:xfrm>
            <a:off x="6339126" y="3425329"/>
            <a:ext cx="5056359" cy="75813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When several people use the system at the same time, one action can interfere with another. For example, two transfers from the same account can create errors or wrong totals.</a:t>
            </a:r>
            <a:endParaRPr lang="en-US" sz="1200" dirty="0"/>
          </a:p>
        </p:txBody>
      </p:sp>
      <p:sp>
        <p:nvSpPr>
          <p:cNvPr id="16" name="Shape 12"/>
          <p:cNvSpPr/>
          <p:nvPr/>
        </p:nvSpPr>
        <p:spPr>
          <a:xfrm>
            <a:off x="631908" y="4505722"/>
            <a:ext cx="10927878" cy="1820366"/>
          </a:xfrm>
          <a:prstGeom prst="roundRect">
            <a:avLst>
              <a:gd name="adj" fmla="val 3645"/>
            </a:avLst>
          </a:prstGeom>
          <a:solidFill>
            <a:srgbClr val="740B0B"/>
          </a:solidFill>
          <a:ln w="6350">
            <a:solidFill>
              <a:srgbClr val="8D2424"/>
            </a:solidFill>
            <a:prstDash val="solid"/>
          </a:ln>
        </p:spPr>
      </p:sp>
      <p:sp>
        <p:nvSpPr>
          <p:cNvPr id="17" name="Shape 13"/>
          <p:cNvSpPr/>
          <p:nvPr/>
        </p:nvSpPr>
        <p:spPr>
          <a:xfrm>
            <a:off x="796211" y="4670028"/>
            <a:ext cx="473857" cy="473869"/>
          </a:xfrm>
          <a:prstGeom prst="ellipse">
            <a:avLst/>
          </a:prstGeom>
          <a:solidFill>
            <a:srgbClr val="C91313"/>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6482" y="4800302"/>
            <a:ext cx="213216" cy="213221"/>
          </a:xfrm>
          <a:prstGeom prst="rect">
            <a:avLst/>
          </a:prstGeom>
        </p:spPr>
      </p:pic>
      <p:sp>
        <p:nvSpPr>
          <p:cNvPr id="19" name="Text 14"/>
          <p:cNvSpPr/>
          <p:nvPr/>
        </p:nvSpPr>
        <p:spPr>
          <a:xfrm>
            <a:off x="796211" y="5301853"/>
            <a:ext cx="10599274"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The System Gets Slow</a:t>
            </a:r>
            <a:endParaRPr lang="en-US" sz="1600" dirty="0"/>
          </a:p>
        </p:txBody>
      </p:sp>
      <p:sp>
        <p:nvSpPr>
          <p:cNvPr id="20" name="Text 15"/>
          <p:cNvSpPr/>
          <p:nvPr/>
        </p:nvSpPr>
        <p:spPr>
          <a:xfrm>
            <a:off x="796211" y="5656362"/>
            <a:ext cx="10599274"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As more customers and transactions are added, simple searches and reports take longer. For example, a balance lookup that used to be quick can become frustratingly slow.</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31908" y="434380"/>
            <a:ext cx="1165791" cy="172541"/>
          </a:xfrm>
          <a:prstGeom prst="roundRect">
            <a:avLst>
              <a:gd name="adj" fmla="val 22112"/>
            </a:avLst>
          </a:prstGeom>
          <a:solidFill>
            <a:srgbClr val="460707"/>
          </a:solidFill>
          <a:ln/>
        </p:spPr>
      </p:sp>
      <p:sp>
        <p:nvSpPr>
          <p:cNvPr id="3" name="Text 1"/>
          <p:cNvSpPr/>
          <p:nvPr/>
        </p:nvSpPr>
        <p:spPr>
          <a:xfrm>
            <a:off x="699971" y="468412"/>
            <a:ext cx="1639251" cy="104477"/>
          </a:xfrm>
          <a:prstGeom prst="rect">
            <a:avLst/>
          </a:prstGeom>
          <a:noFill/>
          <a:ln/>
        </p:spPr>
        <p:txBody>
          <a:bodyPr wrap="none" lIns="0" tIns="0" rIns="0" bIns="0" rtlCol="0" anchor="t"/>
          <a:lstStyle/>
          <a:p>
            <a:pPr algn="l" indent="0" marL="0">
              <a:lnSpc>
                <a:spcPct val="96000"/>
              </a:lnSpc>
              <a:buNone/>
            </a:pPr>
            <a:r>
              <a:rPr lang="en-US" sz="700" dirty="0">
                <a:solidFill>
                  <a:srgbClr val="FFE5E5"/>
                </a:solidFill>
                <a:latin typeface="DM Sans" pitchFamily="34" charset="0"/>
                <a:ea typeface="DM Sans" pitchFamily="34" charset="-122"/>
                <a:cs typeface="DM Sans" pitchFamily="34" charset="-120"/>
              </a:rPr>
              <a:t>COMPARATIVE ANALYSIS</a:t>
            </a:r>
            <a:endParaRPr lang="en-US" sz="700" dirty="0"/>
          </a:p>
        </p:txBody>
      </p:sp>
      <p:sp>
        <p:nvSpPr>
          <p:cNvPr id="4" name="Text 2"/>
          <p:cNvSpPr/>
          <p:nvPr/>
        </p:nvSpPr>
        <p:spPr>
          <a:xfrm>
            <a:off x="631908" y="639564"/>
            <a:ext cx="10927878" cy="373559"/>
          </a:xfrm>
          <a:prstGeom prst="rect">
            <a:avLst/>
          </a:prstGeom>
          <a:noFill/>
          <a:ln/>
        </p:spPr>
        <p:txBody>
          <a:bodyPr wrap="none" lIns="0" tIns="0" rIns="0" bIns="0" rtlCol="0" anchor="t"/>
          <a:lstStyle/>
          <a:p>
            <a:pPr algn="l" indent="0" marL="0">
              <a:lnSpc>
                <a:spcPct val="104000"/>
              </a:lnSpc>
              <a:buNone/>
            </a:pPr>
            <a:r>
              <a:rPr lang="en-US" sz="2350" dirty="0">
                <a:solidFill>
                  <a:srgbClr val="FAEBEB"/>
                </a:solidFill>
                <a:latin typeface="Dela Gothic One" pitchFamily="34" charset="0"/>
                <a:ea typeface="Dela Gothic One" pitchFamily="34" charset="-122"/>
                <a:cs typeface="Dela Gothic One" pitchFamily="34" charset="-120"/>
              </a:rPr>
              <a:t>Existing vs. Proposed Approach</a:t>
            </a:r>
            <a:endParaRPr lang="en-US" sz="2350" dirty="0"/>
          </a:p>
        </p:txBody>
      </p:sp>
      <p:sp>
        <p:nvSpPr>
          <p:cNvPr id="5" name="Text 3"/>
          <p:cNvSpPr/>
          <p:nvPr/>
        </p:nvSpPr>
        <p:spPr>
          <a:xfrm>
            <a:off x="631908" y="1135459"/>
            <a:ext cx="11537463" cy="156071"/>
          </a:xfrm>
          <a:prstGeom prst="rect">
            <a:avLst/>
          </a:prstGeom>
          <a:noFill/>
          <a:ln/>
        </p:spPr>
        <p:txBody>
          <a:bodyPr wrap="none" lIns="0" tIns="0" rIns="0" bIns="0" rtlCol="0" anchor="t"/>
          <a:lstStyle/>
          <a:p>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A simple side-by-side comparison of the current approach and the improved system.</a:t>
            </a:r>
            <a:endParaRPr lang="en-US" sz="8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908" y="1475085"/>
            <a:ext cx="5325433" cy="906264"/>
          </a:xfrm>
          <a:prstGeom prst="rect">
            <a:avLst/>
          </a:prstGeom>
        </p:spPr>
      </p:pic>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3312" y="1842988"/>
            <a:ext cx="170255" cy="170259"/>
          </a:xfrm>
          <a:prstGeom prst="rect">
            <a:avLst/>
          </a:prstGeom>
        </p:spPr>
      </p:pic>
      <p:sp>
        <p:nvSpPr>
          <p:cNvPr id="8" name="Text 4"/>
          <p:cNvSpPr/>
          <p:nvPr/>
        </p:nvSpPr>
        <p:spPr>
          <a:xfrm>
            <a:off x="1180277" y="1601291"/>
            <a:ext cx="4650862" cy="186730"/>
          </a:xfrm>
          <a:prstGeom prst="rect">
            <a:avLst/>
          </a:prstGeom>
          <a:noFill/>
          <a:ln/>
        </p:spPr>
        <p:txBody>
          <a:bodyPr wrap="none" lIns="0" tIns="0" rIns="0" bIns="0" rtlCol="0" anchor="t"/>
          <a:lstStyle/>
          <a:p>
            <a:pPr algn="l" indent="0" marL="0">
              <a:lnSpc>
                <a:spcPct val="104000"/>
              </a:lnSpc>
              <a:buNone/>
            </a:pPr>
            <a:r>
              <a:rPr lang="en-US" sz="1150" dirty="0">
                <a:solidFill>
                  <a:srgbClr val="FFE5E5"/>
                </a:solidFill>
                <a:latin typeface="Dela Gothic One" pitchFamily="34" charset="0"/>
                <a:ea typeface="Dela Gothic One" pitchFamily="34" charset="-122"/>
                <a:cs typeface="Dela Gothic One" pitchFamily="34" charset="-120"/>
              </a:rPr>
              <a:t>Code Organization</a:t>
            </a:r>
            <a:endParaRPr lang="en-US" sz="1150" dirty="0"/>
          </a:p>
        </p:txBody>
      </p:sp>
      <p:sp>
        <p:nvSpPr>
          <p:cNvPr id="9" name="Text 5"/>
          <p:cNvSpPr/>
          <p:nvPr/>
        </p:nvSpPr>
        <p:spPr>
          <a:xfrm>
            <a:off x="1180277" y="1869579"/>
            <a:ext cx="4650862" cy="385564"/>
          </a:xfrm>
          <a:prstGeom prst="rect">
            <a:avLst/>
          </a:prstGeom>
          <a:noFill/>
          <a:ln/>
        </p:spPr>
        <p:txBody>
          <a:bodyPr wrap="square" lIns="0" tIns="0" rIns="0" bIns="0" rtlCol="0" anchor="t"/>
          <a:lstStyle/>
          <a:p>
            <a:pPr algn="l" indent="0" marL="0">
              <a:lnSpc>
                <a:spcPct val="115000"/>
              </a:lnSpc>
              <a:spcAft>
                <a:spcPts val="550"/>
              </a:spcAft>
              <a:buNone/>
            </a:pPr>
            <a:r>
              <a:rPr lang="en-US" sz="850" b="1" dirty="0">
                <a:solidFill>
                  <a:srgbClr val="FFE5E5"/>
                </a:solidFill>
                <a:latin typeface="DM Sans Bold" pitchFamily="34" charset="0"/>
                <a:ea typeface="DM Sans Bold" pitchFamily="34" charset="-122"/>
                <a:cs typeface="DM Sans Bold" pitchFamily="34" charset="-120"/>
              </a:rPr>
              <a:t>Bad:</a:t>
            </a:r>
            <a:pPr algn="l" indent="0" marL="0">
              <a:lnSpc>
                <a:spcPct val="115000"/>
              </a:lnSpc>
              <a:spcAft>
                <a:spcPts val="550"/>
              </a:spcAft>
              <a:buNone/>
            </a:pPr>
            <a:r>
              <a:rPr lang="en-US" sz="850" dirty="0">
                <a:solidFill>
                  <a:srgbClr val="FFE5E5"/>
                </a:solidFill>
                <a:latin typeface="DM Sans" pitchFamily="34" charset="0"/>
                <a:ea typeface="DM Sans" pitchFamily="34" charset="-122"/>
                <a:cs typeface="DM Sans" pitchFamily="34" charset="-120"/>
              </a:rPr>
              <a:t> Mixed together</a:t>
            </a:r>
            <a:endParaRPr lang="en-US" sz="850" dirty="0"/>
          </a:p>
          <a:p>
            <a:pPr algn="l" indent="0" marL="0">
              <a:lnSpc>
                <a:spcPct val="115000"/>
              </a:lnSpc>
              <a:buNone/>
            </a:pPr>
            <a:r>
              <a:rPr lang="en-US" sz="850" b="1" dirty="0">
                <a:solidFill>
                  <a:srgbClr val="FFE5E5"/>
                </a:solidFill>
                <a:latin typeface="DM Sans Bold" pitchFamily="34" charset="0"/>
                <a:ea typeface="DM Sans Bold" pitchFamily="34" charset="-122"/>
                <a:cs typeface="DM Sans Bold" pitchFamily="34" charset="-120"/>
              </a:rPr>
              <a:t>Good:</a:t>
            </a:r>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 Clear responsibilities</a:t>
            </a:r>
            <a:endParaRPr lang="en-US" sz="8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 y="2462907"/>
            <a:ext cx="5325433" cy="906264"/>
          </a:xfrm>
          <a:prstGeom prst="rect">
            <a:avLst/>
          </a:prstGeom>
        </p:spPr>
      </p:pic>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3312" y="2830810"/>
            <a:ext cx="170255" cy="170259"/>
          </a:xfrm>
          <a:prstGeom prst="rect">
            <a:avLst/>
          </a:prstGeom>
        </p:spPr>
      </p:pic>
      <p:sp>
        <p:nvSpPr>
          <p:cNvPr id="12" name="Text 6"/>
          <p:cNvSpPr/>
          <p:nvPr/>
        </p:nvSpPr>
        <p:spPr>
          <a:xfrm>
            <a:off x="1180277" y="2589113"/>
            <a:ext cx="4650862" cy="186730"/>
          </a:xfrm>
          <a:prstGeom prst="rect">
            <a:avLst/>
          </a:prstGeom>
          <a:noFill/>
          <a:ln/>
        </p:spPr>
        <p:txBody>
          <a:bodyPr wrap="none" lIns="0" tIns="0" rIns="0" bIns="0" rtlCol="0" anchor="t"/>
          <a:lstStyle/>
          <a:p>
            <a:pPr algn="l" indent="0" marL="0">
              <a:lnSpc>
                <a:spcPct val="104000"/>
              </a:lnSpc>
              <a:buNone/>
            </a:pPr>
            <a:r>
              <a:rPr lang="en-US" sz="1150" dirty="0">
                <a:solidFill>
                  <a:srgbClr val="FFE5E5"/>
                </a:solidFill>
                <a:latin typeface="Dela Gothic One" pitchFamily="34" charset="0"/>
                <a:ea typeface="Dela Gothic One" pitchFamily="34" charset="-122"/>
                <a:cs typeface="Dela Gothic One" pitchFamily="34" charset="-120"/>
              </a:rPr>
              <a:t>Data Safety</a:t>
            </a:r>
            <a:endParaRPr lang="en-US" sz="1150" dirty="0"/>
          </a:p>
        </p:txBody>
      </p:sp>
      <p:sp>
        <p:nvSpPr>
          <p:cNvPr id="13" name="Text 7"/>
          <p:cNvSpPr/>
          <p:nvPr/>
        </p:nvSpPr>
        <p:spPr>
          <a:xfrm>
            <a:off x="1180277" y="2857401"/>
            <a:ext cx="4650862" cy="385564"/>
          </a:xfrm>
          <a:prstGeom prst="rect">
            <a:avLst/>
          </a:prstGeom>
          <a:noFill/>
          <a:ln/>
        </p:spPr>
        <p:txBody>
          <a:bodyPr wrap="square" lIns="0" tIns="0" rIns="0" bIns="0" rtlCol="0" anchor="t"/>
          <a:lstStyle/>
          <a:p>
            <a:pPr algn="l" indent="0" marL="0">
              <a:lnSpc>
                <a:spcPct val="115000"/>
              </a:lnSpc>
              <a:spcAft>
                <a:spcPts val="550"/>
              </a:spcAft>
              <a:buNone/>
            </a:pPr>
            <a:r>
              <a:rPr lang="en-US" sz="850" b="1" dirty="0">
                <a:solidFill>
                  <a:srgbClr val="FFE5E5"/>
                </a:solidFill>
                <a:latin typeface="DM Sans Bold" pitchFamily="34" charset="0"/>
                <a:ea typeface="DM Sans Bold" pitchFamily="34" charset="-122"/>
                <a:cs typeface="DM Sans Bold" pitchFamily="34" charset="-120"/>
              </a:rPr>
              <a:t>Bad:</a:t>
            </a:r>
            <a:pPr algn="l" indent="0" marL="0">
              <a:lnSpc>
                <a:spcPct val="115000"/>
              </a:lnSpc>
              <a:spcAft>
                <a:spcPts val="550"/>
              </a:spcAft>
              <a:buNone/>
            </a:pPr>
            <a:r>
              <a:rPr lang="en-US" sz="850" dirty="0">
                <a:solidFill>
                  <a:srgbClr val="FFE5E5"/>
                </a:solidFill>
                <a:latin typeface="DM Sans" pitchFamily="34" charset="0"/>
                <a:ea typeface="DM Sans" pitchFamily="34" charset="-122"/>
                <a:cs typeface="DM Sans" pitchFamily="34" charset="-120"/>
              </a:rPr>
              <a:t> Easy to change by mistake</a:t>
            </a:r>
            <a:endParaRPr lang="en-US" sz="850" dirty="0"/>
          </a:p>
          <a:p>
            <a:pPr algn="l" indent="0" marL="0">
              <a:lnSpc>
                <a:spcPct val="115000"/>
              </a:lnSpc>
              <a:buNone/>
            </a:pPr>
            <a:r>
              <a:rPr lang="en-US" sz="850" b="1" dirty="0">
                <a:solidFill>
                  <a:srgbClr val="FFE5E5"/>
                </a:solidFill>
                <a:latin typeface="DM Sans Bold" pitchFamily="34" charset="0"/>
                <a:ea typeface="DM Sans Bold" pitchFamily="34" charset="-122"/>
                <a:cs typeface="DM Sans Bold" pitchFamily="34" charset="-120"/>
              </a:rPr>
              <a:t>Good:</a:t>
            </a:r>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 Protected and consistent</a:t>
            </a:r>
            <a:endParaRPr lang="en-US" sz="8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908" y="3450729"/>
            <a:ext cx="5325433" cy="906264"/>
          </a:xfrm>
          <a:prstGeom prst="rect">
            <a:avLst/>
          </a:prstGeom>
        </p:spPr>
      </p:pic>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3312" y="3818632"/>
            <a:ext cx="170255" cy="170259"/>
          </a:xfrm>
          <a:prstGeom prst="rect">
            <a:avLst/>
          </a:prstGeom>
        </p:spPr>
      </p:pic>
      <p:sp>
        <p:nvSpPr>
          <p:cNvPr id="16" name="Text 8"/>
          <p:cNvSpPr/>
          <p:nvPr/>
        </p:nvSpPr>
        <p:spPr>
          <a:xfrm>
            <a:off x="1180277" y="3576935"/>
            <a:ext cx="4650862" cy="186730"/>
          </a:xfrm>
          <a:prstGeom prst="rect">
            <a:avLst/>
          </a:prstGeom>
          <a:noFill/>
          <a:ln/>
        </p:spPr>
        <p:txBody>
          <a:bodyPr wrap="none" lIns="0" tIns="0" rIns="0" bIns="0" rtlCol="0" anchor="t"/>
          <a:lstStyle/>
          <a:p>
            <a:pPr algn="l" indent="0" marL="0">
              <a:lnSpc>
                <a:spcPct val="104000"/>
              </a:lnSpc>
              <a:buNone/>
            </a:pPr>
            <a:r>
              <a:rPr lang="en-US" sz="1150" dirty="0">
                <a:solidFill>
                  <a:srgbClr val="FFE5E5"/>
                </a:solidFill>
                <a:latin typeface="Dela Gothic One" pitchFamily="34" charset="0"/>
                <a:ea typeface="Dela Gothic One" pitchFamily="34" charset="-122"/>
                <a:cs typeface="Dela Gothic One" pitchFamily="34" charset="-120"/>
              </a:rPr>
              <a:t>Performance</a:t>
            </a:r>
            <a:endParaRPr lang="en-US" sz="1150" dirty="0"/>
          </a:p>
        </p:txBody>
      </p:sp>
      <p:sp>
        <p:nvSpPr>
          <p:cNvPr id="17" name="Text 9"/>
          <p:cNvSpPr/>
          <p:nvPr/>
        </p:nvSpPr>
        <p:spPr>
          <a:xfrm>
            <a:off x="1180277" y="3845223"/>
            <a:ext cx="4650862" cy="385564"/>
          </a:xfrm>
          <a:prstGeom prst="rect">
            <a:avLst/>
          </a:prstGeom>
          <a:noFill/>
          <a:ln/>
        </p:spPr>
        <p:txBody>
          <a:bodyPr wrap="square" lIns="0" tIns="0" rIns="0" bIns="0" rtlCol="0" anchor="t"/>
          <a:lstStyle/>
          <a:p>
            <a:pPr algn="l" indent="0" marL="0">
              <a:lnSpc>
                <a:spcPct val="115000"/>
              </a:lnSpc>
              <a:spcAft>
                <a:spcPts val="550"/>
              </a:spcAft>
              <a:buNone/>
            </a:pPr>
            <a:r>
              <a:rPr lang="en-US" sz="850" b="1" dirty="0">
                <a:solidFill>
                  <a:srgbClr val="FFE5E5"/>
                </a:solidFill>
                <a:latin typeface="DM Sans Bold" pitchFamily="34" charset="0"/>
                <a:ea typeface="DM Sans Bold" pitchFamily="34" charset="-122"/>
                <a:cs typeface="DM Sans Bold" pitchFamily="34" charset="-120"/>
              </a:rPr>
              <a:t>Bad:</a:t>
            </a:r>
            <a:pPr algn="l" indent="0" marL="0">
              <a:lnSpc>
                <a:spcPct val="115000"/>
              </a:lnSpc>
              <a:spcAft>
                <a:spcPts val="550"/>
              </a:spcAft>
              <a:buNone/>
            </a:pPr>
            <a:r>
              <a:rPr lang="en-US" sz="850" dirty="0">
                <a:solidFill>
                  <a:srgbClr val="FFE5E5"/>
                </a:solidFill>
                <a:latin typeface="DM Sans" pitchFamily="34" charset="0"/>
                <a:ea typeface="DM Sans" pitchFamily="34" charset="-122"/>
                <a:cs typeface="DM Sans" pitchFamily="34" charset="-120"/>
              </a:rPr>
              <a:t> Slows down as it grows</a:t>
            </a:r>
            <a:endParaRPr lang="en-US" sz="850" dirty="0"/>
          </a:p>
          <a:p>
            <a:pPr algn="l" indent="0" marL="0">
              <a:lnSpc>
                <a:spcPct val="115000"/>
              </a:lnSpc>
              <a:buNone/>
            </a:pPr>
            <a:r>
              <a:rPr lang="en-US" sz="850" b="1" dirty="0">
                <a:solidFill>
                  <a:srgbClr val="FFE5E5"/>
                </a:solidFill>
                <a:latin typeface="DM Sans Bold" pitchFamily="34" charset="0"/>
                <a:ea typeface="DM Sans Bold" pitchFamily="34" charset="-122"/>
                <a:cs typeface="DM Sans Bold" pitchFamily="34" charset="-120"/>
              </a:rPr>
              <a:t>Good:</a:t>
            </a:r>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 Stays fast</a:t>
            </a:r>
            <a:endParaRPr lang="en-US" sz="850" dirty="0"/>
          </a:p>
        </p:txBody>
      </p:sp>
      <p:pic>
        <p:nvPicPr>
          <p:cNvPr id="1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1908" y="4438551"/>
            <a:ext cx="5325433" cy="906264"/>
          </a:xfrm>
          <a:prstGeom prst="rect">
            <a:avLst/>
          </a:prstGeom>
        </p:spPr>
      </p:pic>
      <p:pic>
        <p:nvPicPr>
          <p:cNvPr id="1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3312" y="4806454"/>
            <a:ext cx="170255" cy="170259"/>
          </a:xfrm>
          <a:prstGeom prst="rect">
            <a:avLst/>
          </a:prstGeom>
        </p:spPr>
      </p:pic>
      <p:sp>
        <p:nvSpPr>
          <p:cNvPr id="20" name="Text 10"/>
          <p:cNvSpPr/>
          <p:nvPr/>
        </p:nvSpPr>
        <p:spPr>
          <a:xfrm>
            <a:off x="1180277" y="4564757"/>
            <a:ext cx="4650862" cy="186730"/>
          </a:xfrm>
          <a:prstGeom prst="rect">
            <a:avLst/>
          </a:prstGeom>
          <a:noFill/>
          <a:ln/>
        </p:spPr>
        <p:txBody>
          <a:bodyPr wrap="none" lIns="0" tIns="0" rIns="0" bIns="0" rtlCol="0" anchor="t"/>
          <a:lstStyle/>
          <a:p>
            <a:pPr algn="l" indent="0" marL="0">
              <a:lnSpc>
                <a:spcPct val="104000"/>
              </a:lnSpc>
              <a:buNone/>
            </a:pPr>
            <a:r>
              <a:rPr lang="en-US" sz="1150" dirty="0">
                <a:solidFill>
                  <a:srgbClr val="FFE5E5"/>
                </a:solidFill>
                <a:latin typeface="Dela Gothic One" pitchFamily="34" charset="0"/>
                <a:ea typeface="Dela Gothic One" pitchFamily="34" charset="-122"/>
                <a:cs typeface="Dela Gothic One" pitchFamily="34" charset="-120"/>
              </a:rPr>
              <a:t>Maintainability</a:t>
            </a:r>
            <a:endParaRPr lang="en-US" sz="1150" dirty="0"/>
          </a:p>
        </p:txBody>
      </p:sp>
      <p:sp>
        <p:nvSpPr>
          <p:cNvPr id="21" name="Text 11"/>
          <p:cNvSpPr/>
          <p:nvPr/>
        </p:nvSpPr>
        <p:spPr>
          <a:xfrm>
            <a:off x="1180277" y="4833045"/>
            <a:ext cx="4650862" cy="385564"/>
          </a:xfrm>
          <a:prstGeom prst="rect">
            <a:avLst/>
          </a:prstGeom>
          <a:noFill/>
          <a:ln/>
        </p:spPr>
        <p:txBody>
          <a:bodyPr wrap="square" lIns="0" tIns="0" rIns="0" bIns="0" rtlCol="0" anchor="t"/>
          <a:lstStyle/>
          <a:p>
            <a:pPr algn="l" indent="0" marL="0">
              <a:lnSpc>
                <a:spcPct val="115000"/>
              </a:lnSpc>
              <a:spcAft>
                <a:spcPts val="550"/>
              </a:spcAft>
              <a:buNone/>
            </a:pPr>
            <a:r>
              <a:rPr lang="en-US" sz="850" b="1" dirty="0">
                <a:solidFill>
                  <a:srgbClr val="FFE5E5"/>
                </a:solidFill>
                <a:latin typeface="DM Sans Bold" pitchFamily="34" charset="0"/>
                <a:ea typeface="DM Sans Bold" pitchFamily="34" charset="-122"/>
                <a:cs typeface="DM Sans Bold" pitchFamily="34" charset="-120"/>
              </a:rPr>
              <a:t>Bad:</a:t>
            </a:r>
            <a:pPr algn="l" indent="0" marL="0">
              <a:lnSpc>
                <a:spcPct val="115000"/>
              </a:lnSpc>
              <a:spcAft>
                <a:spcPts val="550"/>
              </a:spcAft>
              <a:buNone/>
            </a:pPr>
            <a:r>
              <a:rPr lang="en-US" sz="850" dirty="0">
                <a:solidFill>
                  <a:srgbClr val="FFE5E5"/>
                </a:solidFill>
                <a:latin typeface="DM Sans" pitchFamily="34" charset="0"/>
                <a:ea typeface="DM Sans" pitchFamily="34" charset="-122"/>
                <a:cs typeface="DM Sans" pitchFamily="34" charset="-120"/>
              </a:rPr>
              <a:t> Hard to update and fix</a:t>
            </a:r>
            <a:endParaRPr lang="en-US" sz="850" dirty="0"/>
          </a:p>
          <a:p>
            <a:pPr algn="l" indent="0" marL="0">
              <a:lnSpc>
                <a:spcPct val="115000"/>
              </a:lnSpc>
              <a:buNone/>
            </a:pPr>
            <a:r>
              <a:rPr lang="en-US" sz="850" b="1" dirty="0">
                <a:solidFill>
                  <a:srgbClr val="FFE5E5"/>
                </a:solidFill>
                <a:latin typeface="DM Sans Bold" pitchFamily="34" charset="0"/>
                <a:ea typeface="DM Sans Bold" pitchFamily="34" charset="-122"/>
                <a:cs typeface="DM Sans Bold" pitchFamily="34" charset="-120"/>
              </a:rPr>
              <a:t>Good:</a:t>
            </a:r>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 Easy to change and extend</a:t>
            </a:r>
            <a:endParaRPr lang="en-US" sz="850" dirty="0"/>
          </a:p>
        </p:txBody>
      </p:sp>
      <p:pic>
        <p:nvPicPr>
          <p:cNvPr id="2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31908" y="5426373"/>
            <a:ext cx="5325433" cy="906264"/>
          </a:xfrm>
          <a:prstGeom prst="rect">
            <a:avLst/>
          </a:prstGeom>
        </p:spPr>
      </p:pic>
      <p:pic>
        <p:nvPicPr>
          <p:cNvPr id="23"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83312" y="5794276"/>
            <a:ext cx="170255" cy="170259"/>
          </a:xfrm>
          <a:prstGeom prst="rect">
            <a:avLst/>
          </a:prstGeom>
        </p:spPr>
      </p:pic>
      <p:sp>
        <p:nvSpPr>
          <p:cNvPr id="24" name="Text 12"/>
          <p:cNvSpPr/>
          <p:nvPr/>
        </p:nvSpPr>
        <p:spPr>
          <a:xfrm>
            <a:off x="1180277" y="5552579"/>
            <a:ext cx="4650862" cy="186730"/>
          </a:xfrm>
          <a:prstGeom prst="rect">
            <a:avLst/>
          </a:prstGeom>
          <a:noFill/>
          <a:ln/>
        </p:spPr>
        <p:txBody>
          <a:bodyPr wrap="none" lIns="0" tIns="0" rIns="0" bIns="0" rtlCol="0" anchor="t"/>
          <a:lstStyle/>
          <a:p>
            <a:pPr algn="l" indent="0" marL="0">
              <a:lnSpc>
                <a:spcPct val="104000"/>
              </a:lnSpc>
              <a:buNone/>
            </a:pPr>
            <a:r>
              <a:rPr lang="en-US" sz="1150" dirty="0">
                <a:solidFill>
                  <a:srgbClr val="FFE5E5"/>
                </a:solidFill>
                <a:latin typeface="Dela Gothic One" pitchFamily="34" charset="0"/>
                <a:ea typeface="Dela Gothic One" pitchFamily="34" charset="-122"/>
                <a:cs typeface="Dela Gothic One" pitchFamily="34" charset="-120"/>
              </a:rPr>
              <a:t>Reliability</a:t>
            </a:r>
            <a:endParaRPr lang="en-US" sz="1150" dirty="0"/>
          </a:p>
        </p:txBody>
      </p:sp>
      <p:sp>
        <p:nvSpPr>
          <p:cNvPr id="25" name="Text 13"/>
          <p:cNvSpPr/>
          <p:nvPr/>
        </p:nvSpPr>
        <p:spPr>
          <a:xfrm>
            <a:off x="1180277" y="5820866"/>
            <a:ext cx="4650862" cy="385564"/>
          </a:xfrm>
          <a:prstGeom prst="rect">
            <a:avLst/>
          </a:prstGeom>
          <a:noFill/>
          <a:ln/>
        </p:spPr>
        <p:txBody>
          <a:bodyPr wrap="square" lIns="0" tIns="0" rIns="0" bIns="0" rtlCol="0" anchor="t"/>
          <a:lstStyle/>
          <a:p>
            <a:pPr algn="l" indent="0" marL="0">
              <a:lnSpc>
                <a:spcPct val="115000"/>
              </a:lnSpc>
              <a:spcAft>
                <a:spcPts val="550"/>
              </a:spcAft>
              <a:buNone/>
            </a:pPr>
            <a:r>
              <a:rPr lang="en-US" sz="850" b="1" dirty="0">
                <a:solidFill>
                  <a:srgbClr val="FFE5E5"/>
                </a:solidFill>
                <a:latin typeface="DM Sans Bold" pitchFamily="34" charset="0"/>
                <a:ea typeface="DM Sans Bold" pitchFamily="34" charset="-122"/>
                <a:cs typeface="DM Sans Bold" pitchFamily="34" charset="-120"/>
              </a:rPr>
              <a:t>Bad:</a:t>
            </a:r>
            <a:pPr algn="l" indent="0" marL="0">
              <a:lnSpc>
                <a:spcPct val="115000"/>
              </a:lnSpc>
              <a:spcAft>
                <a:spcPts val="550"/>
              </a:spcAft>
              <a:buNone/>
            </a:pPr>
            <a:r>
              <a:rPr lang="en-US" sz="850" dirty="0">
                <a:solidFill>
                  <a:srgbClr val="FFE5E5"/>
                </a:solidFill>
                <a:latin typeface="DM Sans" pitchFamily="34" charset="0"/>
                <a:ea typeface="DM Sans" pitchFamily="34" charset="-122"/>
                <a:cs typeface="DM Sans" pitchFamily="34" charset="-120"/>
              </a:rPr>
              <a:t> Breaks under pressure</a:t>
            </a:r>
            <a:endParaRPr lang="en-US" sz="850" dirty="0"/>
          </a:p>
          <a:p>
            <a:pPr algn="l" indent="0" marL="0">
              <a:lnSpc>
                <a:spcPct val="115000"/>
              </a:lnSpc>
              <a:buNone/>
            </a:pPr>
            <a:r>
              <a:rPr lang="en-US" sz="850" b="1" dirty="0">
                <a:solidFill>
                  <a:srgbClr val="FFE5E5"/>
                </a:solidFill>
                <a:latin typeface="DM Sans Bold" pitchFamily="34" charset="0"/>
                <a:ea typeface="DM Sans Bold" pitchFamily="34" charset="-122"/>
                <a:cs typeface="DM Sans Bold" pitchFamily="34" charset="-120"/>
              </a:rPr>
              <a:t>Good:</a:t>
            </a:r>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 Works consistently</a:t>
            </a:r>
            <a:endParaRPr lang="en-US" sz="850" dirty="0"/>
          </a:p>
        </p:txBody>
      </p:sp>
      <p:sp>
        <p:nvSpPr>
          <p:cNvPr id="26" name="Shape 14"/>
          <p:cNvSpPr/>
          <p:nvPr/>
        </p:nvSpPr>
        <p:spPr>
          <a:xfrm>
            <a:off x="6240703" y="1475085"/>
            <a:ext cx="5325433" cy="1086247"/>
          </a:xfrm>
          <a:prstGeom prst="roundRect">
            <a:avLst>
              <a:gd name="adj" fmla="val 4390"/>
            </a:avLst>
          </a:prstGeom>
          <a:solidFill>
            <a:srgbClr val="740B0B"/>
          </a:solidFill>
          <a:ln w="6350">
            <a:solidFill>
              <a:srgbClr val="8D2424"/>
            </a:solidFill>
            <a:prstDash val="solid"/>
          </a:ln>
        </p:spPr>
      </p:sp>
      <p:sp>
        <p:nvSpPr>
          <p:cNvPr id="27" name="Shape 15"/>
          <p:cNvSpPr/>
          <p:nvPr/>
        </p:nvSpPr>
        <p:spPr>
          <a:xfrm>
            <a:off x="6360557" y="1594941"/>
            <a:ext cx="340609" cy="340618"/>
          </a:xfrm>
          <a:prstGeom prst="ellipse">
            <a:avLst/>
          </a:prstGeom>
          <a:solidFill>
            <a:srgbClr val="C91313"/>
          </a:solidFill>
          <a:ln/>
        </p:spPr>
      </p:sp>
      <p:pic>
        <p:nvPicPr>
          <p:cNvPr id="28"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454217" y="1688604"/>
            <a:ext cx="153190" cy="153194"/>
          </a:xfrm>
          <a:prstGeom prst="rect">
            <a:avLst/>
          </a:prstGeom>
        </p:spPr>
      </p:pic>
      <p:sp>
        <p:nvSpPr>
          <p:cNvPr id="29" name="Text 16"/>
          <p:cNvSpPr/>
          <p:nvPr/>
        </p:nvSpPr>
        <p:spPr>
          <a:xfrm>
            <a:off x="6360557" y="2017117"/>
            <a:ext cx="5085727" cy="186730"/>
          </a:xfrm>
          <a:prstGeom prst="rect">
            <a:avLst/>
          </a:prstGeom>
          <a:noFill/>
          <a:ln/>
        </p:spPr>
        <p:txBody>
          <a:bodyPr wrap="none" lIns="0" tIns="0" rIns="0" bIns="0" rtlCol="0" anchor="t"/>
          <a:lstStyle/>
          <a:p>
            <a:pPr algn="l" indent="0" marL="0">
              <a:lnSpc>
                <a:spcPct val="104000"/>
              </a:lnSpc>
              <a:buNone/>
            </a:pPr>
            <a:r>
              <a:rPr lang="en-US" sz="1150" dirty="0">
                <a:solidFill>
                  <a:srgbClr val="FFE5E5"/>
                </a:solidFill>
                <a:latin typeface="Dela Gothic One" pitchFamily="34" charset="0"/>
                <a:ea typeface="Dela Gothic One" pitchFamily="34" charset="-122"/>
                <a:cs typeface="Dela Gothic One" pitchFamily="34" charset="-120"/>
              </a:rPr>
              <a:t>Old way</a:t>
            </a:r>
            <a:endParaRPr lang="en-US" sz="1150" dirty="0"/>
          </a:p>
        </p:txBody>
      </p:sp>
      <p:sp>
        <p:nvSpPr>
          <p:cNvPr id="30" name="Text 17"/>
          <p:cNvSpPr/>
          <p:nvPr/>
        </p:nvSpPr>
        <p:spPr>
          <a:xfrm>
            <a:off x="6360557" y="2285405"/>
            <a:ext cx="5085727" cy="156071"/>
          </a:xfrm>
          <a:prstGeom prst="rect">
            <a:avLst/>
          </a:prstGeom>
          <a:noFill/>
          <a:ln/>
        </p:spPr>
        <p:txBody>
          <a:bodyPr wrap="none" lIns="0" tIns="0" rIns="0" bIns="0" rtlCol="0" anchor="t"/>
          <a:lstStyle/>
          <a:p>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Mixed code, weak data protection, slow performance, difficult maintenance, and fragile reliability.</a:t>
            </a:r>
            <a:endParaRPr lang="en-US" sz="850" dirty="0"/>
          </a:p>
        </p:txBody>
      </p:sp>
      <p:sp>
        <p:nvSpPr>
          <p:cNvPr id="31" name="Shape 18"/>
          <p:cNvSpPr/>
          <p:nvPr/>
        </p:nvSpPr>
        <p:spPr>
          <a:xfrm>
            <a:off x="6240703" y="2642890"/>
            <a:ext cx="5325433" cy="1086247"/>
          </a:xfrm>
          <a:prstGeom prst="roundRect">
            <a:avLst>
              <a:gd name="adj" fmla="val 4390"/>
            </a:avLst>
          </a:prstGeom>
          <a:solidFill>
            <a:srgbClr val="740B0B"/>
          </a:solidFill>
          <a:ln w="6350">
            <a:solidFill>
              <a:srgbClr val="8D2424"/>
            </a:solidFill>
            <a:prstDash val="solid"/>
          </a:ln>
        </p:spPr>
      </p:sp>
      <p:sp>
        <p:nvSpPr>
          <p:cNvPr id="32" name="Shape 19"/>
          <p:cNvSpPr/>
          <p:nvPr/>
        </p:nvSpPr>
        <p:spPr>
          <a:xfrm>
            <a:off x="6360557" y="2762746"/>
            <a:ext cx="340609" cy="340618"/>
          </a:xfrm>
          <a:prstGeom prst="ellipse">
            <a:avLst/>
          </a:prstGeom>
          <a:solidFill>
            <a:srgbClr val="C91313"/>
          </a:solidFill>
          <a:ln/>
        </p:spPr>
      </p:sp>
      <p:pic>
        <p:nvPicPr>
          <p:cNvPr id="33"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454217" y="2856409"/>
            <a:ext cx="153190" cy="153194"/>
          </a:xfrm>
          <a:prstGeom prst="rect">
            <a:avLst/>
          </a:prstGeom>
        </p:spPr>
      </p:pic>
      <p:sp>
        <p:nvSpPr>
          <p:cNvPr id="34" name="Text 20"/>
          <p:cNvSpPr/>
          <p:nvPr/>
        </p:nvSpPr>
        <p:spPr>
          <a:xfrm>
            <a:off x="6360557" y="3184922"/>
            <a:ext cx="5085727" cy="186730"/>
          </a:xfrm>
          <a:prstGeom prst="rect">
            <a:avLst/>
          </a:prstGeom>
          <a:noFill/>
          <a:ln/>
        </p:spPr>
        <p:txBody>
          <a:bodyPr wrap="none" lIns="0" tIns="0" rIns="0" bIns="0" rtlCol="0" anchor="t"/>
          <a:lstStyle/>
          <a:p>
            <a:pPr algn="l" indent="0" marL="0">
              <a:lnSpc>
                <a:spcPct val="104000"/>
              </a:lnSpc>
              <a:buNone/>
            </a:pPr>
            <a:r>
              <a:rPr lang="en-US" sz="1150" dirty="0">
                <a:solidFill>
                  <a:srgbClr val="FFE5E5"/>
                </a:solidFill>
                <a:latin typeface="Dela Gothic One" pitchFamily="34" charset="0"/>
                <a:ea typeface="Dela Gothic One" pitchFamily="34" charset="-122"/>
                <a:cs typeface="Dela Gothic One" pitchFamily="34" charset="-120"/>
              </a:rPr>
              <a:t>New way</a:t>
            </a:r>
            <a:endParaRPr lang="en-US" sz="1150" dirty="0"/>
          </a:p>
        </p:txBody>
      </p:sp>
      <p:sp>
        <p:nvSpPr>
          <p:cNvPr id="35" name="Text 21"/>
          <p:cNvSpPr/>
          <p:nvPr/>
        </p:nvSpPr>
        <p:spPr>
          <a:xfrm>
            <a:off x="6360557" y="3453209"/>
            <a:ext cx="5085727" cy="156071"/>
          </a:xfrm>
          <a:prstGeom prst="rect">
            <a:avLst/>
          </a:prstGeom>
          <a:noFill/>
          <a:ln/>
        </p:spPr>
        <p:txBody>
          <a:bodyPr wrap="none" lIns="0" tIns="0" rIns="0" bIns="0" rtlCol="0" anchor="t"/>
          <a:lstStyle/>
          <a:p>
            <a:pPr algn="l" indent="0" marL="0">
              <a:lnSpc>
                <a:spcPct val="115000"/>
              </a:lnSpc>
              <a:buNone/>
            </a:pPr>
            <a:r>
              <a:rPr lang="en-US" sz="850" dirty="0">
                <a:solidFill>
                  <a:srgbClr val="FFE5E5"/>
                </a:solidFill>
                <a:latin typeface="DM Sans" pitchFamily="34" charset="0"/>
                <a:ea typeface="DM Sans" pitchFamily="34" charset="-122"/>
                <a:cs typeface="DM Sans" pitchFamily="34" charset="-120"/>
              </a:rPr>
              <a:t>Clear structure, safer data, better speed, easier maintenance, and stronger reliability.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31908" y="462459"/>
            <a:ext cx="610378" cy="134938"/>
          </a:xfrm>
          <a:prstGeom prst="roundRect">
            <a:avLst>
              <a:gd name="adj" fmla="val 22127"/>
            </a:avLst>
          </a:prstGeom>
          <a:solidFill>
            <a:srgbClr val="460707"/>
          </a:solidFill>
          <a:ln/>
        </p:spPr>
      </p:sp>
      <p:sp>
        <p:nvSpPr>
          <p:cNvPr id="3" name="Text 1"/>
          <p:cNvSpPr/>
          <p:nvPr/>
        </p:nvSpPr>
        <p:spPr>
          <a:xfrm>
            <a:off x="685188" y="489049"/>
            <a:ext cx="1113405" cy="81756"/>
          </a:xfrm>
          <a:prstGeom prst="rect">
            <a:avLst/>
          </a:prstGeom>
          <a:noFill/>
          <a:ln/>
        </p:spPr>
        <p:txBody>
          <a:bodyPr wrap="none" lIns="0" tIns="0" rIns="0" bIns="0" rtlCol="0" anchor="t"/>
          <a:lstStyle/>
          <a:p>
            <a:pPr algn="l" indent="0" marL="0">
              <a:lnSpc>
                <a:spcPct val="96000"/>
              </a:lnSpc>
              <a:buNone/>
            </a:pPr>
            <a:r>
              <a:rPr lang="en-US" sz="550" dirty="0">
                <a:solidFill>
                  <a:srgbClr val="FFE5E5"/>
                </a:solidFill>
                <a:latin typeface="DM Sans" pitchFamily="34" charset="0"/>
                <a:ea typeface="DM Sans" pitchFamily="34" charset="-122"/>
                <a:cs typeface="DM Sans" pitchFamily="34" charset="-120"/>
              </a:rPr>
              <a:t>ARCHITECTURE</a:t>
            </a:r>
            <a:endParaRPr lang="en-US" sz="550" dirty="0"/>
          </a:p>
        </p:txBody>
      </p:sp>
      <p:sp>
        <p:nvSpPr>
          <p:cNvPr id="4" name="Text 2"/>
          <p:cNvSpPr/>
          <p:nvPr/>
        </p:nvSpPr>
        <p:spPr>
          <a:xfrm>
            <a:off x="631908" y="617339"/>
            <a:ext cx="10927878" cy="292298"/>
          </a:xfrm>
          <a:prstGeom prst="rect">
            <a:avLst/>
          </a:prstGeom>
          <a:noFill/>
          <a:ln/>
        </p:spPr>
        <p:txBody>
          <a:bodyPr wrap="none" lIns="0" tIns="0" rIns="0" bIns="0" rtlCol="0" anchor="t"/>
          <a:lstStyle/>
          <a:p>
            <a:pPr algn="l" indent="0" marL="0">
              <a:lnSpc>
                <a:spcPct val="104000"/>
              </a:lnSpc>
              <a:buNone/>
            </a:pPr>
            <a:r>
              <a:rPr lang="en-US" sz="1800" dirty="0">
                <a:solidFill>
                  <a:srgbClr val="FAEBEB"/>
                </a:solidFill>
                <a:latin typeface="Dela Gothic One" pitchFamily="34" charset="0"/>
                <a:ea typeface="Dela Gothic One" pitchFamily="34" charset="-122"/>
                <a:cs typeface="Dela Gothic One" pitchFamily="34" charset="-120"/>
              </a:rPr>
              <a:t>System Architecture: Request to Save</a:t>
            </a:r>
            <a:endParaRPr lang="en-US" sz="1800" dirty="0"/>
          </a:p>
        </p:txBody>
      </p:sp>
      <p:sp>
        <p:nvSpPr>
          <p:cNvPr id="5" name="Text 3"/>
          <p:cNvSpPr/>
          <p:nvPr/>
        </p:nvSpPr>
        <p:spPr>
          <a:xfrm>
            <a:off x="631908" y="984548"/>
            <a:ext cx="11537463" cy="111125"/>
          </a:xfrm>
          <a:prstGeom prst="rect">
            <a:avLst/>
          </a:prstGeom>
          <a:noFill/>
          <a:ln/>
        </p:spPr>
        <p:txBody>
          <a:bodyPr wrap="none" lIns="0" tIns="0" rIns="0" bIns="0" rtlCol="0" anchor="t"/>
          <a:lstStyle/>
          <a:p>
            <a:pPr algn="l" indent="0" marL="0">
              <a:lnSpc>
                <a:spcPct val="104000"/>
              </a:lnSpc>
              <a:buNone/>
            </a:pPr>
            <a:r>
              <a:rPr lang="en-US" sz="650" i="1" dirty="0">
                <a:solidFill>
                  <a:srgbClr val="FFE5E5"/>
                </a:solidFill>
                <a:latin typeface="DM Sans" pitchFamily="34" charset="0"/>
                <a:ea typeface="DM Sans" pitchFamily="34" charset="-122"/>
                <a:cs typeface="DM Sans" pitchFamily="34" charset="-120"/>
              </a:rPr>
              <a:t>How a request moves through the system in four simple steps</a:t>
            </a:r>
            <a:endParaRPr lang="en-US" sz="650" dirty="0"/>
          </a:p>
        </p:txBody>
      </p:sp>
      <p:pic>
        <p:nvPicPr>
          <p:cNvPr id="6" name="Image 0" descr="preencoded.png">    </p:cNvPr>
          <p:cNvPicPr>
            <a:picLocks noChangeAspect="1"/>
          </p:cNvPicPr>
          <p:nvPr/>
        </p:nvPicPr>
        <p:blipFill>
          <a:blip r:embed="rId1"/>
          <a:stretch>
            <a:fillRect/>
          </a:stretch>
        </p:blipFill>
        <p:spPr>
          <a:xfrm>
            <a:off x="1846812" y="1151830"/>
            <a:ext cx="8498072" cy="3889375"/>
          </a:xfrm>
          <a:prstGeom prst="rect">
            <a:avLst/>
          </a:prstGeom>
        </p:spPr>
      </p:pic>
      <p:sp>
        <p:nvSpPr>
          <p:cNvPr id="7" name="Text 4"/>
          <p:cNvSpPr/>
          <p:nvPr/>
        </p:nvSpPr>
        <p:spPr>
          <a:xfrm>
            <a:off x="8353818" y="3947705"/>
            <a:ext cx="1595446" cy="647142"/>
          </a:xfrm>
          <a:prstGeom prst="rect">
            <a:avLst/>
          </a:prstGeom>
          <a:noFill/>
          <a:ln/>
        </p:spPr>
        <p:txBody>
          <a:bodyPr wrap="square" lIns="0" tIns="0" rIns="0" bIns="0" rtlCol="0" anchor="t">
            <a:normAutofit/>
          </a:bodyPr>
          <a:lstStyle/>
          <a:p>
            <a:pPr algn="ctr" indent="0" marL="0">
              <a:lnSpc>
                <a:spcPct val="104000"/>
              </a:lnSpc>
              <a:buNone/>
            </a:pPr>
            <a:r>
              <a:rPr lang="en-US" sz="2000" dirty="0">
                <a:solidFill>
                  <a:srgbClr val="FFE5E5"/>
                </a:solidFill>
                <a:latin typeface="Dela Gothic One" pitchFamily="34" charset="0"/>
                <a:ea typeface="Dela Gothic One" pitchFamily="34" charset="-122"/>
                <a:cs typeface="Dela Gothic One" pitchFamily="34" charset="-120"/>
              </a:rPr>
              <a:t>Data saved</a:t>
            </a:r>
            <a:endParaRPr lang="en-US" sz="2000" dirty="0"/>
          </a:p>
        </p:txBody>
      </p:sp>
      <p:sp>
        <p:nvSpPr>
          <p:cNvPr id="8" name="Text 5"/>
          <p:cNvSpPr/>
          <p:nvPr/>
        </p:nvSpPr>
        <p:spPr>
          <a:xfrm>
            <a:off x="6343120" y="3947705"/>
            <a:ext cx="1595445" cy="647142"/>
          </a:xfrm>
          <a:prstGeom prst="rect">
            <a:avLst/>
          </a:prstGeom>
          <a:noFill/>
          <a:ln/>
        </p:spPr>
        <p:txBody>
          <a:bodyPr wrap="square" lIns="0" tIns="0" rIns="0" bIns="0" rtlCol="0" anchor="t">
            <a:normAutofit/>
          </a:bodyPr>
          <a:lstStyle/>
          <a:p>
            <a:pPr algn="ctr" indent="0" marL="0">
              <a:lnSpc>
                <a:spcPct val="104000"/>
              </a:lnSpc>
              <a:buNone/>
            </a:pPr>
            <a:r>
              <a:rPr lang="en-US" sz="2000" dirty="0">
                <a:solidFill>
                  <a:srgbClr val="FFE5E5"/>
                </a:solidFill>
                <a:latin typeface="Dela Gothic One" pitchFamily="34" charset="0"/>
                <a:ea typeface="Dela Gothic One" pitchFamily="34" charset="-122"/>
                <a:cs typeface="Dela Gothic One" pitchFamily="34" charset="-120"/>
              </a:rPr>
              <a:t>Server checks</a:t>
            </a:r>
            <a:endParaRPr lang="en-US" sz="2000" dirty="0"/>
          </a:p>
        </p:txBody>
      </p:sp>
      <p:sp>
        <p:nvSpPr>
          <p:cNvPr id="9" name="Text 6"/>
          <p:cNvSpPr/>
          <p:nvPr/>
        </p:nvSpPr>
        <p:spPr>
          <a:xfrm>
            <a:off x="4343349" y="3947705"/>
            <a:ext cx="1595445" cy="647142"/>
          </a:xfrm>
          <a:prstGeom prst="rect">
            <a:avLst/>
          </a:prstGeom>
          <a:noFill/>
          <a:ln/>
        </p:spPr>
        <p:txBody>
          <a:bodyPr wrap="square" lIns="0" tIns="0" rIns="0" bIns="0" rtlCol="0" anchor="t">
            <a:normAutofit/>
          </a:bodyPr>
          <a:lstStyle/>
          <a:p>
            <a:pPr algn="ctr" indent="0" marL="0">
              <a:lnSpc>
                <a:spcPct val="104000"/>
              </a:lnSpc>
              <a:buNone/>
            </a:pPr>
            <a:r>
              <a:rPr lang="en-US" sz="2000" dirty="0">
                <a:solidFill>
                  <a:srgbClr val="FFE5E5"/>
                </a:solidFill>
                <a:latin typeface="Dela Gothic One" pitchFamily="34" charset="0"/>
                <a:ea typeface="Dela Gothic One" pitchFamily="34" charset="-122"/>
                <a:cs typeface="Dela Gothic One" pitchFamily="34" charset="-120"/>
              </a:rPr>
              <a:t>Server receives</a:t>
            </a:r>
            <a:endParaRPr lang="en-US" sz="2000" dirty="0"/>
          </a:p>
        </p:txBody>
      </p:sp>
      <p:sp>
        <p:nvSpPr>
          <p:cNvPr id="10" name="Text 7"/>
          <p:cNvSpPr/>
          <p:nvPr/>
        </p:nvSpPr>
        <p:spPr>
          <a:xfrm>
            <a:off x="2299868" y="3947705"/>
            <a:ext cx="1595445" cy="647142"/>
          </a:xfrm>
          <a:prstGeom prst="rect">
            <a:avLst/>
          </a:prstGeom>
          <a:noFill/>
          <a:ln/>
        </p:spPr>
        <p:txBody>
          <a:bodyPr wrap="square" lIns="0" tIns="0" rIns="0" bIns="0" rtlCol="0" anchor="t">
            <a:normAutofit/>
          </a:bodyPr>
          <a:lstStyle/>
          <a:p>
            <a:pPr algn="ctr" indent="0" marL="0">
              <a:lnSpc>
                <a:spcPct val="104000"/>
              </a:lnSpc>
              <a:buNone/>
            </a:pPr>
            <a:r>
              <a:rPr lang="en-US" sz="2000" dirty="0">
                <a:solidFill>
                  <a:srgbClr val="FFE5E5"/>
                </a:solidFill>
                <a:latin typeface="Dela Gothic One" pitchFamily="34" charset="0"/>
                <a:ea typeface="Dela Gothic One" pitchFamily="34" charset="-122"/>
                <a:cs typeface="Dela Gothic One" pitchFamily="34" charset="-120"/>
              </a:rPr>
              <a:t>User sends</a:t>
            </a:r>
            <a:endParaRPr lang="en-US" sz="2000" dirty="0"/>
          </a:p>
        </p:txBody>
      </p:sp>
      <p:sp>
        <p:nvSpPr>
          <p:cNvPr id="11" name="Text 8"/>
          <p:cNvSpPr/>
          <p:nvPr/>
        </p:nvSpPr>
        <p:spPr>
          <a:xfrm>
            <a:off x="631908" y="5116116"/>
            <a:ext cx="10927878" cy="233859"/>
          </a:xfrm>
          <a:prstGeom prst="rect">
            <a:avLst/>
          </a:prstGeom>
          <a:noFill/>
          <a:ln/>
        </p:spPr>
        <p:txBody>
          <a:bodyPr wrap="none" lIns="0" tIns="0" rIns="0" bIns="0" rtlCol="0" anchor="t"/>
          <a:lstStyle/>
          <a:p>
            <a:pPr algn="l" indent="0" marL="0">
              <a:lnSpc>
                <a:spcPct val="104000"/>
              </a:lnSpc>
              <a:buNone/>
            </a:pPr>
            <a:r>
              <a:rPr lang="en-US" sz="1450" dirty="0">
                <a:solidFill>
                  <a:srgbClr val="FAEBEB"/>
                </a:solidFill>
                <a:latin typeface="Dela Gothic One" pitchFamily="34" charset="0"/>
                <a:ea typeface="Dela Gothic One" pitchFamily="34" charset="-122"/>
                <a:cs typeface="Dela Gothic One" pitchFamily="34" charset="-120"/>
              </a:rPr>
              <a:t>Layered request flow</a:t>
            </a:r>
            <a:endParaRPr lang="en-US" sz="1450" dirty="0"/>
          </a:p>
        </p:txBody>
      </p:sp>
      <p:sp>
        <p:nvSpPr>
          <p:cNvPr id="12" name="Text 9"/>
          <p:cNvSpPr/>
          <p:nvPr/>
        </p:nvSpPr>
        <p:spPr>
          <a:xfrm>
            <a:off x="631908" y="5424884"/>
            <a:ext cx="10927878" cy="496888"/>
          </a:xfrm>
          <a:prstGeom prst="rect">
            <a:avLst/>
          </a:prstGeom>
          <a:noFill/>
          <a:ln/>
        </p:spPr>
        <p:txBody>
          <a:bodyPr wrap="square" lIns="0" tIns="0" rIns="0" bIns="0" rtlCol="0" anchor="t">
            <a:normAutofit/>
          </a:bodyPr>
          <a:lstStyle/>
          <a:p>
            <a:pPr algn="l" marL="132080" indent="-132080">
              <a:lnSpc>
                <a:spcPct val="104000"/>
              </a:lnSpc>
              <a:buSzPct val="100000"/>
              <a:buFont typeface="+mj-lt"/>
              <a:buAutoNum type="arabicPeriod" startAt="1"/>
            </a:pPr>
            <a:r>
              <a:rPr lang="en-US" sz="650" b="1" dirty="0">
                <a:solidFill>
                  <a:srgbClr val="FFE5E5"/>
                </a:solidFill>
                <a:latin typeface="DM Sans Bold" pitchFamily="34" charset="0"/>
                <a:ea typeface="DM Sans Bold" pitchFamily="34" charset="-122"/>
                <a:cs typeface="DM Sans Bold" pitchFamily="34" charset="-120"/>
              </a:rPr>
              <a:t>Request Layer:</a:t>
            </a:r>
            <a:pPr algn="l" marL="132080" indent="-132080">
              <a:lnSpc>
                <a:spcPct val="104000"/>
              </a:lnSpc>
              <a:buSzPct val="100000"/>
              <a:buFont typeface="+mj-lt"/>
              <a:buAutoNum type="arabicPeriod" startAt="1"/>
            </a:pPr>
            <a:r>
              <a:rPr lang="en-US" sz="650" dirty="0">
                <a:solidFill>
                  <a:srgbClr val="FFE5E5"/>
                </a:solidFill>
                <a:latin typeface="DM Sans" pitchFamily="34" charset="0"/>
                <a:ea typeface="DM Sans" pitchFamily="34" charset="-122"/>
                <a:cs typeface="DM Sans" pitchFamily="34" charset="-120"/>
              </a:rPr>
              <a:t> HTTP arrives at the Express.js API, where the request is accepted and routed into the application.</a:t>
            </a:r>
            <a:endParaRPr lang="en-US" sz="650" dirty="0"/>
          </a:p>
          <a:p>
            <a:pPr algn="l" marL="132080" indent="-132080">
              <a:lnSpc>
                <a:spcPct val="104000"/>
              </a:lnSpc>
              <a:buSzPct val="100000"/>
              <a:buFont typeface="+mj-lt"/>
              <a:buAutoNum type="arabicPeriod" startAt="2"/>
            </a:pPr>
            <a:r>
              <a:rPr lang="en-US" sz="650" b="1" dirty="0">
                <a:solidFill>
                  <a:srgbClr val="FFE5E5"/>
                </a:solidFill>
                <a:latin typeface="DM Sans Bold" pitchFamily="34" charset="0"/>
                <a:ea typeface="DM Sans Bold" pitchFamily="34" charset="-122"/>
                <a:cs typeface="DM Sans Bold" pitchFamily="34" charset="-120"/>
              </a:rPr>
              <a:t>Validation &amp; Business Logic:</a:t>
            </a:r>
            <a:pPr algn="l" marL="132080" indent="-132080">
              <a:lnSpc>
                <a:spcPct val="104000"/>
              </a:lnSpc>
              <a:buSzPct val="100000"/>
              <a:buFont typeface="+mj-lt"/>
              <a:buAutoNum type="arabicPeriod" startAt="2"/>
            </a:pPr>
            <a:r>
              <a:rPr lang="en-US" sz="650" dirty="0">
                <a:solidFill>
                  <a:srgbClr val="FFE5E5"/>
                </a:solidFill>
                <a:latin typeface="DM Sans" pitchFamily="34" charset="0"/>
                <a:ea typeface="DM Sans" pitchFamily="34" charset="-122"/>
                <a:cs typeface="DM Sans" pitchFamily="34" charset="-120"/>
              </a:rPr>
              <a:t> The service checks data integrity, enforces banking rules, and applies domain-specific safeguards before any write occurs.</a:t>
            </a:r>
            <a:endParaRPr lang="en-US" sz="650" dirty="0"/>
          </a:p>
          <a:p>
            <a:pPr algn="l" marL="132080" indent="-132080">
              <a:lnSpc>
                <a:spcPct val="104000"/>
              </a:lnSpc>
              <a:buSzPct val="100000"/>
              <a:buFont typeface="+mj-lt"/>
              <a:buAutoNum type="arabicPeriod" startAt="3"/>
            </a:pPr>
            <a:r>
              <a:rPr lang="en-US" sz="650" b="1" dirty="0">
                <a:solidFill>
                  <a:srgbClr val="FFE5E5"/>
                </a:solidFill>
                <a:latin typeface="DM Sans Bold" pitchFamily="34" charset="0"/>
                <a:ea typeface="DM Sans Bold" pitchFamily="34" charset="-122"/>
                <a:cs typeface="DM Sans Bold" pitchFamily="34" charset="-120"/>
              </a:rPr>
              <a:t>Data Access Layer:</a:t>
            </a:r>
            <a:pPr algn="l" marL="132080" indent="-132080">
              <a:lnSpc>
                <a:spcPct val="104000"/>
              </a:lnSpc>
              <a:buSzPct val="100000"/>
              <a:buFont typeface="+mj-lt"/>
              <a:buAutoNum type="arabicPeriod" startAt="3"/>
            </a:pPr>
            <a:r>
              <a:rPr lang="en-US" sz="650" dirty="0">
                <a:solidFill>
                  <a:srgbClr val="FFE5E5"/>
                </a:solidFill>
                <a:latin typeface="DM Sans" pitchFamily="34" charset="0"/>
                <a:ea typeface="DM Sans" pitchFamily="34" charset="-122"/>
                <a:cs typeface="DM Sans" pitchFamily="34" charset="-120"/>
              </a:rPr>
              <a:t> The query builder constructs parameterized SQL and isolates persistence concerns from business logic.</a:t>
            </a:r>
            <a:endParaRPr lang="en-US" sz="650" dirty="0"/>
          </a:p>
          <a:p>
            <a:pPr algn="l" marL="132080" indent="-132080">
              <a:lnSpc>
                <a:spcPct val="104000"/>
              </a:lnSpc>
              <a:buSzPct val="100000"/>
              <a:buFont typeface="+mj-lt"/>
              <a:buAutoNum type="arabicPeriod" startAt="4"/>
            </a:pPr>
            <a:r>
              <a:rPr lang="en-US" sz="650" b="1" dirty="0">
                <a:solidFill>
                  <a:srgbClr val="FFE5E5"/>
                </a:solidFill>
                <a:latin typeface="DM Sans Bold" pitchFamily="34" charset="0"/>
                <a:ea typeface="DM Sans Bold" pitchFamily="34" charset="-122"/>
                <a:cs typeface="DM Sans Bold" pitchFamily="34" charset="-120"/>
              </a:rPr>
              <a:t>Persistence:</a:t>
            </a:r>
            <a:pPr algn="l" marL="132080" indent="-132080">
              <a:lnSpc>
                <a:spcPct val="104000"/>
              </a:lnSpc>
              <a:buSzPct val="100000"/>
              <a:buFont typeface="+mj-lt"/>
              <a:buAutoNum type="arabicPeriod" startAt="4"/>
            </a:pPr>
            <a:r>
              <a:rPr lang="en-US" sz="650" dirty="0">
                <a:solidFill>
                  <a:srgbClr val="FFE5E5"/>
                </a:solidFill>
                <a:latin typeface="DM Sans" pitchFamily="34" charset="0"/>
                <a:ea typeface="DM Sans" pitchFamily="34" charset="-122"/>
                <a:cs typeface="DM Sans" pitchFamily="34" charset="-120"/>
              </a:rPr>
              <a:t> PostgreSQL primary node executes the transaction with ACID guarantees, ensuring the save is durable and consistent.</a:t>
            </a:r>
            <a:endParaRPr lang="en-US" sz="650" dirty="0"/>
          </a:p>
        </p:txBody>
      </p:sp>
      <p:sp>
        <p:nvSpPr>
          <p:cNvPr id="13" name="Shape 10"/>
          <p:cNvSpPr/>
          <p:nvPr/>
        </p:nvSpPr>
        <p:spPr>
          <a:xfrm>
            <a:off x="631908" y="5977930"/>
            <a:ext cx="10927878" cy="250230"/>
          </a:xfrm>
          <a:prstGeom prst="roundRect">
            <a:avLst>
              <a:gd name="adj" fmla="val 14915"/>
            </a:avLst>
          </a:prstGeom>
          <a:solidFill>
            <a:srgbClr val="740B0B"/>
          </a:solidFill>
          <a:ln/>
        </p:spPr>
      </p:sp>
      <p:pic>
        <p:nvPicPr>
          <p:cNvPr id="14" name="Image 1" descr="preencoded.png">    </p:cNvPr>
          <p:cNvPicPr>
            <a:picLocks noChangeAspect="1"/>
          </p:cNvPicPr>
          <p:nvPr/>
        </p:nvPicPr>
        <p:blipFill>
          <a:blip r:embed="rId2"/>
          <a:stretch>
            <a:fillRect/>
          </a:stretch>
        </p:blipFill>
        <p:spPr>
          <a:xfrm>
            <a:off x="720707" y="6049963"/>
            <a:ext cx="111023" cy="88801"/>
          </a:xfrm>
          <a:prstGeom prst="rect">
            <a:avLst/>
          </a:prstGeom>
        </p:spPr>
      </p:pic>
      <p:sp>
        <p:nvSpPr>
          <p:cNvPr id="15" name="Text 11"/>
          <p:cNvSpPr/>
          <p:nvPr/>
        </p:nvSpPr>
        <p:spPr>
          <a:xfrm>
            <a:off x="920529" y="6049963"/>
            <a:ext cx="11160044" cy="111125"/>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DM Sans" pitchFamily="34" charset="0"/>
                <a:ea typeface="DM Sans" pitchFamily="34" charset="-122"/>
                <a:cs typeface="DM Sans" pitchFamily="34" charset="-120"/>
              </a:rPr>
              <a:t>Data layer note: the primary node handles writes with full ACID protection; replica nodes serve read-heavy queries; sharding by customer ID enables horizontal scaling.</a:t>
            </a:r>
            <a:endParaRPr lang="en-US" sz="650" dirty="0"/>
          </a:p>
        </p:txBody>
      </p:sp>
      <p:sp>
        <p:nvSpPr>
          <p:cNvPr id="16" name="Text 12"/>
          <p:cNvSpPr/>
          <p:nvPr/>
        </p:nvSpPr>
        <p:spPr>
          <a:xfrm>
            <a:off x="631908" y="6284317"/>
            <a:ext cx="11537463" cy="111125"/>
          </a:xfrm>
          <a:prstGeom prst="rect">
            <a:avLst/>
          </a:prstGeom>
          <a:noFill/>
          <a:ln/>
        </p:spPr>
        <p:txBody>
          <a:bodyPr wrap="none" lIns="0" tIns="0" rIns="0" bIns="0" rtlCol="0" anchor="t"/>
          <a:lstStyle/>
          <a:p>
            <a:pPr algn="l" indent="0" marL="0">
              <a:lnSpc>
                <a:spcPct val="104000"/>
              </a:lnSpc>
              <a:buNone/>
            </a:pPr>
            <a:r>
              <a:rPr lang="en-US" sz="650" dirty="0">
                <a:solidFill>
                  <a:srgbClr val="FFE5E5"/>
                </a:solidFill>
                <a:latin typeface="DM Sans" pitchFamily="34" charset="0"/>
                <a:ea typeface="DM Sans" pitchFamily="34" charset="-122"/>
                <a:cs typeface="DM Sans" pitchFamily="34" charset="-120"/>
              </a:rPr>
              <a:t>This flow shows the full path a request takes through the stack, from the API edge through validation and data access to durable database storage.</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31908" y="1611809"/>
            <a:ext cx="1422166" cy="240010"/>
          </a:xfrm>
          <a:prstGeom prst="roundRect">
            <a:avLst>
              <a:gd name="adj" fmla="val 22116"/>
            </a:avLst>
          </a:prstGeom>
          <a:solidFill>
            <a:srgbClr val="460707"/>
          </a:solidFill>
          <a:ln/>
        </p:spPr>
      </p:sp>
      <p:sp>
        <p:nvSpPr>
          <p:cNvPr id="3" name="Text 1"/>
          <p:cNvSpPr/>
          <p:nvPr/>
        </p:nvSpPr>
        <p:spPr>
          <a:xfrm>
            <a:off x="726660" y="1659136"/>
            <a:ext cx="1842248" cy="145355"/>
          </a:xfrm>
          <a:prstGeom prst="rect">
            <a:avLst/>
          </a:prstGeom>
          <a:noFill/>
          <a:ln/>
        </p:spPr>
        <p:txBody>
          <a:bodyPr wrap="none" lIns="0" tIns="0" rIns="0" bIns="0" rtlCol="0" anchor="t"/>
          <a:lstStyle/>
          <a:p>
            <a:pPr algn="l" indent="0" marL="0">
              <a:lnSpc>
                <a:spcPct val="96000"/>
              </a:lnSpc>
              <a:buNone/>
            </a:pPr>
            <a:r>
              <a:rPr lang="en-US" sz="950" dirty="0">
                <a:solidFill>
                  <a:srgbClr val="FFE5E5"/>
                </a:solidFill>
                <a:latin typeface="DM Sans" pitchFamily="34" charset="0"/>
                <a:ea typeface="DM Sans" pitchFamily="34" charset="-122"/>
                <a:cs typeface="DM Sans" pitchFamily="34" charset="-120"/>
              </a:rPr>
              <a:t>TECHNOLOGY STACK</a:t>
            </a:r>
            <a:endParaRPr lang="en-US" sz="950" dirty="0"/>
          </a:p>
        </p:txBody>
      </p:sp>
      <p:sp>
        <p:nvSpPr>
          <p:cNvPr id="4" name="Text 2"/>
          <p:cNvSpPr/>
          <p:nvPr/>
        </p:nvSpPr>
        <p:spPr>
          <a:xfrm>
            <a:off x="631908" y="1914922"/>
            <a:ext cx="10927878" cy="519609"/>
          </a:xfrm>
          <a:prstGeom prst="rect">
            <a:avLst/>
          </a:prstGeom>
          <a:noFill/>
          <a:ln/>
        </p:spPr>
        <p:txBody>
          <a:bodyPr wrap="none" lIns="0" tIns="0" rIns="0" bIns="0" rtlCol="0" anchor="t"/>
          <a:lstStyle/>
          <a:p>
            <a:pPr algn="l" indent="0" marL="0">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Technology Stack</a:t>
            </a:r>
            <a:endParaRPr lang="en-US" sz="3250" dirty="0"/>
          </a:p>
        </p:txBody>
      </p:sp>
      <p:sp>
        <p:nvSpPr>
          <p:cNvPr id="5" name="Text 3"/>
          <p:cNvSpPr/>
          <p:nvPr/>
        </p:nvSpPr>
        <p:spPr>
          <a:xfrm>
            <a:off x="631908" y="2671465"/>
            <a:ext cx="11537463" cy="252710"/>
          </a:xfrm>
          <a:prstGeom prst="rect">
            <a:avLst/>
          </a:prstGeom>
          <a:noFill/>
          <a:ln/>
        </p:spPr>
        <p:txBody>
          <a:bodyPr wrap="none" lIns="0" tIns="0" rIns="0" bIns="0" rtlCol="0" anchor="t"/>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Four core categories used to build, manage, and organize the backend project.</a:t>
            </a:r>
            <a:endParaRPr lang="en-US" sz="12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908" y="3101876"/>
            <a:ext cx="315905" cy="315913"/>
          </a:xfrm>
          <a:prstGeom prst="rect">
            <a:avLst/>
          </a:prstGeom>
        </p:spPr>
      </p:pic>
      <p:sp>
        <p:nvSpPr>
          <p:cNvPr id="7" name="Text 4"/>
          <p:cNvSpPr/>
          <p:nvPr/>
        </p:nvSpPr>
        <p:spPr>
          <a:xfrm>
            <a:off x="1145253" y="3156148"/>
            <a:ext cx="4851874"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Frontend</a:t>
            </a:r>
            <a:endParaRPr lang="en-US" sz="1600" dirty="0"/>
          </a:p>
        </p:txBody>
      </p:sp>
      <p:sp>
        <p:nvSpPr>
          <p:cNvPr id="8" name="Text 5"/>
          <p:cNvSpPr/>
          <p:nvPr/>
        </p:nvSpPr>
        <p:spPr>
          <a:xfrm>
            <a:off x="1145253" y="3510657"/>
            <a:ext cx="4851874"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HTML and JavaScript work together to structure the interface and power the application logic.</a:t>
            </a:r>
            <a:endParaRPr lang="en-US" sz="12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4568" y="3101876"/>
            <a:ext cx="315905" cy="315913"/>
          </a:xfrm>
          <a:prstGeom prst="rect">
            <a:avLst/>
          </a:prstGeom>
        </p:spPr>
      </p:pic>
      <p:sp>
        <p:nvSpPr>
          <p:cNvPr id="10" name="Text 6"/>
          <p:cNvSpPr/>
          <p:nvPr/>
        </p:nvSpPr>
        <p:spPr>
          <a:xfrm>
            <a:off x="6707913" y="3156148"/>
            <a:ext cx="4851874"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Backend</a:t>
            </a:r>
            <a:endParaRPr lang="en-US" sz="1600" dirty="0"/>
          </a:p>
        </p:txBody>
      </p:sp>
      <p:sp>
        <p:nvSpPr>
          <p:cNvPr id="11" name="Text 7"/>
          <p:cNvSpPr/>
          <p:nvPr/>
        </p:nvSpPr>
        <p:spPr>
          <a:xfrm>
            <a:off x="6707913" y="3510657"/>
            <a:ext cx="4851874"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Node.js and Express.js run the server and handle routes, requests, and responses.</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 y="4331990"/>
            <a:ext cx="315905" cy="315913"/>
          </a:xfrm>
          <a:prstGeom prst="rect">
            <a:avLst/>
          </a:prstGeom>
        </p:spPr>
      </p:pic>
      <p:sp>
        <p:nvSpPr>
          <p:cNvPr id="13" name="Text 8"/>
          <p:cNvSpPr/>
          <p:nvPr/>
        </p:nvSpPr>
        <p:spPr>
          <a:xfrm>
            <a:off x="1145253" y="4386263"/>
            <a:ext cx="4851874"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Database</a:t>
            </a:r>
            <a:endParaRPr lang="en-US" sz="1600" dirty="0"/>
          </a:p>
        </p:txBody>
      </p:sp>
      <p:sp>
        <p:nvSpPr>
          <p:cNvPr id="14" name="Text 9"/>
          <p:cNvSpPr/>
          <p:nvPr/>
        </p:nvSpPr>
        <p:spPr>
          <a:xfrm>
            <a:off x="1145253" y="4740771"/>
            <a:ext cx="4851874"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SQL is used to work with data, including creating, reading, updating, and deleting records.</a:t>
            </a:r>
            <a:endParaRPr lang="en-US" sz="12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4568" y="4331990"/>
            <a:ext cx="315905" cy="315913"/>
          </a:xfrm>
          <a:prstGeom prst="rect">
            <a:avLst/>
          </a:prstGeom>
        </p:spPr>
      </p:pic>
      <p:sp>
        <p:nvSpPr>
          <p:cNvPr id="16" name="Text 10"/>
          <p:cNvSpPr/>
          <p:nvPr/>
        </p:nvSpPr>
        <p:spPr>
          <a:xfrm>
            <a:off x="6707913" y="4386263"/>
            <a:ext cx="4851874" cy="259755"/>
          </a:xfrm>
          <a:prstGeom prst="rect">
            <a:avLst/>
          </a:prstGeom>
          <a:noFill/>
          <a:ln/>
        </p:spPr>
        <p:txBody>
          <a:bodyPr wrap="none" lIns="0" tIns="0" rIns="0" bIns="0" rtlCol="0" anchor="t"/>
          <a:lstStyle/>
          <a:p>
            <a:pPr algn="l" indent="0" marL="0">
              <a:lnSpc>
                <a:spcPct val="104000"/>
              </a:lnSpc>
              <a:buNone/>
            </a:pPr>
            <a:r>
              <a:rPr lang="en-US" sz="1600" dirty="0">
                <a:solidFill>
                  <a:srgbClr val="FFE5E5"/>
                </a:solidFill>
                <a:latin typeface="Dela Gothic One" pitchFamily="34" charset="0"/>
                <a:ea typeface="Dela Gothic One" pitchFamily="34" charset="-122"/>
                <a:cs typeface="Dela Gothic One" pitchFamily="34" charset="-120"/>
              </a:rPr>
              <a:t>Version Control</a:t>
            </a:r>
            <a:endParaRPr lang="en-US" sz="1600" dirty="0"/>
          </a:p>
        </p:txBody>
      </p:sp>
      <p:sp>
        <p:nvSpPr>
          <p:cNvPr id="17" name="Text 11"/>
          <p:cNvSpPr/>
          <p:nvPr/>
        </p:nvSpPr>
        <p:spPr>
          <a:xfrm>
            <a:off x="6707913" y="4740771"/>
            <a:ext cx="4851874" cy="505420"/>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E5E5"/>
                </a:solidFill>
                <a:latin typeface="DM Sans" pitchFamily="34" charset="0"/>
                <a:ea typeface="DM Sans" pitchFamily="34" charset="-122"/>
                <a:cs typeface="DM Sans" pitchFamily="34" charset="-120"/>
              </a:rPr>
              <a:t>Git and GitHub track changes, store the project online, and make collaboration easier.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3169146"/>
            <a:ext cx="10927878" cy="519609"/>
          </a:xfrm>
          <a:prstGeom prst="rect">
            <a:avLst/>
          </a:prstGeom>
          <a:noFill/>
          <a:ln/>
        </p:spPr>
        <p:txBody>
          <a:bodyPr wrap="none" lIns="0" tIns="0" rIns="0" bIns="0" rtlCol="0" anchor="t"/>
          <a:lstStyle/>
          <a:p>
            <a:pPr algn="ctr" indent="0" marL="0">
              <a:lnSpc>
                <a:spcPct val="104000"/>
              </a:lnSpc>
              <a:buNone/>
            </a:pPr>
            <a:r>
              <a:rPr lang="en-US" sz="3250" dirty="0">
                <a:solidFill>
                  <a:srgbClr val="FAEBEB"/>
                </a:solidFill>
                <a:latin typeface="Dela Gothic One" pitchFamily="34" charset="0"/>
                <a:ea typeface="Dela Gothic One" pitchFamily="34" charset="-122"/>
                <a:cs typeface="Dela Gothic One" pitchFamily="34" charset="-120"/>
              </a:rPr>
              <a:t>Thank You</a:t>
            </a:r>
            <a:endParaRPr lang="en-US" sz="3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2026-08-31T14:37:39Z</dcterms:created>
  <dcterms:modified xsi:type="dcterms:W3CDTF">2026-08-31T14:37:39Z</dcterms:modified>
</cp:coreProperties>
</file>